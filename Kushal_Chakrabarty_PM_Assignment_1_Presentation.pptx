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5e19664-e76e-d85b-b953-c7f7ddef3851}">
          <p14:sldIdLst>
            <p14:sldId id="256"/>
          </p14:sldIdLst>
        </p14:section>
        <p14:section name="Diagnosis" id="{4ede1532-9bfa-e03e-21f6-da20eeb31d74}">
          <p14:sldIdLst>
            <p14:sldId id="257"/>
            <p14:sldId id="258"/>
            <p14:sldId id="259"/>
          </p14:sldIdLst>
        </p14:section>
        <p14:section name="Solution" id="{56ba8f16-188b-82d5-c76f-adf062ed16bc}">
          <p14:sldIdLst>
            <p14:sldId id="260"/>
            <p14:sldId id="261"/>
            <p14:sldId id="262"/>
            <p14:sldId id="263"/>
          </p14:sldIdLst>
        </p14:section>
        <p14:section name="Delivery" id="{85649fe0-0a7a-7fe7-6cf4-5d94120c029d}">
          <p14:sldIdLst>
            <p14:sldId id="264"/>
            <p14:sldId id="265"/>
            <p14:sldId id="266"/>
          </p14:sldIdLst>
        </p14:section>
        <p14:section name="Appendix" id="{d3088e50-e976-3930-c498-10a34539c64f}">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gap review of the APM draft, handling of the nine sample records, solution and PRD, wireframes, engineering handoff, APM feedback, founder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serious: a screenshot treated as payment, and name-based allocation. Both are resolved by D1 (bank feed is the only proof of payment) and D3 (auto-allocate only on an ID-grade identifier). The two non-blocking gaps can follow in a later release without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(screenshots, cash notes) are held with no ledger effect and rechecked on every import. Duplicates are rejected at import. Auto-allocation requires an ID-grade identifier; everything else goes to review with an approver set by the evidence level. Reversals post as new entries with a credit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Controls against incorrect balances and duplicate receipts: duplicate rejection on source + UTR (FR-02); only bank-confirmed credits post (BR1-BR2); append-only ledger with derived balances (FR-23); one receipt per allocation (FR-24); maker-checker (BR8); overpayment hold (FR-10); daily tie-out (FR-28). P2 and P7 share amount and student; the system links them for review but does not treat them as the same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₹25,000, 5% and the SLA values are defaults in PRD section 7.3, pending Finance-head sign-off on 29 Oct. Auto-allocation of exact-UTR claims is a phase 2 option if the phase 1 sampling error rate is below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 of scope: fee structures, scholarships, online checkout, replacing the SMS or accounting system. Delivery estimate to come from engineering after the walkthrough; the APM's 2-week figure covered only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P6, P9, P2, P7, P5 are the sample records that cannot post automatically. The bottom strip lists automatic postings (P1, P3, P8) and the rejected duplicate (P4) for Ops lead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S103 shows a verified payment, a reversal and a pending claim together. P2 has a confirmed credit with no confirmed owner and a related screenshot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PM owns product behaviour and acceptance; engineering owns implementation, reviewed jointly. Details: PRD sections 15 and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feedback: PRD Appendix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 Monday and Thursday. Parameters, screens and test plans are settled by PM and Finance and reported, not escalated.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731520" y="3794760"/>
            <a:ext cx="10698480" cy="18288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rtlCol="0"/>
          <a:lstStyle>
            <a:lvl1pPr algn="l" indent="0" marL="0">
              <a:buNone/>
              <a:defRPr lang="en-US" sz="2400" b="1" dirty="0">
                <a:solidFill>
                  <a:schemeClr val="accent1"/>
                </a:solidFill>
              </a:defRPr>
            </a:lvl1pPr>
          </a:lstStyle>
          <a:p>
            <a:pPr algn="l"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rtlCol="0"/>
          <a:lstStyle>
            <a:lvl1pPr algn="l" indent="0" marL="0">
              <a:buNone/>
              <a:defRPr lang="en-US" sz="2400" b="1" dirty="0">
                <a:solidFill>
                  <a:schemeClr val="accent1"/>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737360"/>
          </a:xfrm>
          <a:prstGeom prst="rect">
            <a:avLst/>
          </a:prstGeom>
          <a:noFill/>
          <a:ln/>
        </p:spPr>
        <p:txBody>
          <a:bodyPr wrap="square" rtlCol="0" anchor="b"/>
          <a:lstStyle/>
          <a:p>
            <a:pPr algn="l" indent="0" marL="0">
              <a:buNone/>
            </a:pPr>
            <a:r>
              <a:rPr lang="en-US" sz="3600" b="1" dirty="0">
                <a:solidFill>
                  <a:schemeClr val="bg1"/>
                </a:solidFill>
              </a:rPr>
              <a:t>Verified Fee Reconciliation: review and rebuild of the APM fee-matching requirement</a:t>
            </a:r>
            <a:endParaRPr lang="en-US" sz="3600" dirty="0"/>
          </a:p>
        </p:txBody>
      </p:sp>
      <p:sp>
        <p:nvSpPr>
          <p:cNvPr id="3" name="Text 0"/>
          <p:cNvSpPr/>
          <p:nvPr>
            <p:ph idx="101" type="body" hasCustomPrompt="1"/>
          </p:nvPr>
        </p:nvSpPr>
        <p:spPr>
          <a:xfrm>
            <a:off x="731520" y="3794760"/>
            <a:ext cx="10698480" cy="1828800"/>
          </a:xfrm>
          <a:prstGeom prst="rect">
            <a:avLst/>
          </a:prstGeom>
          <a:noFill/>
          <a:ln/>
        </p:spPr>
        <p:txBody>
          <a:bodyPr wrap="square" rtlCol="0" anchor="t"/>
          <a:lstStyle/>
          <a:p>
            <a:pPr algn="l" indent="0" marL="0">
              <a:buNone/>
            </a:pPr>
            <a:r>
              <a:rPr lang="en-US" sz="1800" dirty="0">
                <a:solidFill>
                  <a:schemeClr val="bg2"/>
                </a:solidFill>
              </a:rPr>
              <a:t>Product Manager assignment, Intellipaat</a:t>
            </a:r>
            <a:endParaRPr lang="en-US" sz="1800" dirty="0"/>
          </a:p>
          <a:p>
            <a:pPr algn="l" indent="0" marL="0">
              <a:buNone/>
            </a:pPr>
            <a:r>
              <a:rPr lang="en-US" sz="1000" dirty="0">
                <a:solidFill>
                  <a:schemeClr val="bg2"/>
                </a:solidFill>
              </a:rPr>
              <a:t> </a:t>
            </a:r>
            <a:endParaRPr lang="en-US" sz="1800" dirty="0"/>
          </a:p>
          <a:p>
            <a:pPr algn="l" indent="0" marL="0">
              <a:buNone/>
            </a:pPr>
            <a:r>
              <a:rPr lang="en-US" sz="1500" dirty="0">
                <a:solidFill>
                  <a:schemeClr val="bg2"/>
                </a:solidFill>
              </a:rPr>
              <a:t>Kushal Chakrabarty · 27 October 2026</a:t>
            </a:r>
            <a:endParaRPr lang="en-US" sz="1800" dirty="0"/>
          </a:p>
          <a:p>
            <a:pPr algn="l" indent="0" marL="0">
              <a:buNone/>
            </a:pPr>
            <a:r>
              <a:rPr lang="en-US" sz="1500" dirty="0">
                <a:solidFill>
                  <a:schemeClr val="bg2"/>
                </a:solidFill>
              </a:rPr>
              <a:t>Supporting documents: 2_PRD (PDF) · 3_Wireframes folder (workflow + 3 screens)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10 of 12 gaps in the APM draft block engineering; most concern proof of payment and financial control</a:t>
            </a:r>
            <a:endParaRPr lang="en-US" sz="2400" dirty="0"/>
          </a:p>
        </p:txBody>
      </p:sp>
      <p:sp>
        <p:nvSpPr>
          <p:cNvPr id="3" name="Shape 1"/>
          <p:cNvSpPr/>
          <p:nvPr/>
        </p:nvSpPr>
        <p:spPr>
          <a:xfrm>
            <a:off x="457200" y="1325880"/>
            <a:ext cx="3611880" cy="2194560"/>
          </a:xfrm>
          <a:prstGeom prst="roundRect">
            <a:avLst>
              <a:gd name="adj" fmla="val 2500"/>
            </a:avLst>
          </a:prstGeom>
          <a:solidFill>
            <a:schemeClr val="accent6"/>
          </a:solidFill>
          <a:ln w="9525">
            <a:solidFill>
              <a:schemeClr val="accent5"/>
            </a:solidFill>
            <a:prstDash val="solid"/>
          </a:ln>
        </p:spPr>
      </p:sp>
      <p:sp>
        <p:nvSpPr>
          <p:cNvPr id="4" name="Text 2"/>
          <p:cNvSpPr txBox="1"/>
          <p:nvPr/>
        </p:nvSpPr>
        <p:spPr>
          <a:xfrm>
            <a:off x="621792" y="1453896"/>
            <a:ext cx="3282696" cy="292608"/>
          </a:xfrm>
          <a:prstGeom prst="rect">
            <a:avLst/>
          </a:prstGeom>
          <a:noFill/>
          <a:ln/>
        </p:spPr>
        <p:txBody>
          <a:bodyPr wrap="square" lIns="0" tIns="0" rIns="0" bIns="0" rtlCol="0" anchor="t"/>
          <a:lstStyle/>
          <a:p>
            <a:pPr indent="0" marL="0">
              <a:buNone/>
            </a:pPr>
            <a:r>
              <a:rPr lang="en-US" sz="1400" b="1" dirty="0">
                <a:solidFill>
                  <a:schemeClr val="accent1"/>
                </a:solidFill>
              </a:rPr>
              <a:t>Business rules</a:t>
            </a:r>
            <a:endParaRPr lang="en-US" sz="1400" dirty="0"/>
          </a:p>
        </p:txBody>
      </p:sp>
      <p:sp>
        <p:nvSpPr>
          <p:cNvPr id="5" name="Text 3"/>
          <p:cNvSpPr txBox="1"/>
          <p:nvPr/>
        </p:nvSpPr>
        <p:spPr>
          <a:xfrm>
            <a:off x="621792" y="1828800"/>
            <a:ext cx="3282696" cy="1600200"/>
          </a:xfrm>
          <a:prstGeom prst="rect">
            <a:avLst/>
          </a:prstGeom>
          <a:noFill/>
          <a:ln/>
        </p:spPr>
        <p:txBody>
          <a:bodyPr wrap="square" lIns="0" tIns="0" rIns="0" bIns="0" rtlCol="0" anchor="t"/>
          <a:lstStyle/>
          <a:p>
            <a:pPr indent="0" marL="0">
              <a:buNone/>
            </a:pPr>
            <a:r>
              <a:rPr lang="en-US" sz="1000" b="1" dirty="0">
                <a:solidFill>
                  <a:schemeClr val="accent3"/>
                </a:solidFill>
              </a:rPr>
              <a:t>BLOCKER  </a:t>
            </a:r>
            <a:pPr indent="0" marL="0">
              <a:spcAft>
                <a:spcPts val="900"/>
              </a:spcAft>
              <a:buNone/>
            </a:pPr>
            <a:r>
              <a:rPr lang="en-US" sz="1400" dirty="0">
                <a:solidFill>
                  <a:schemeClr val="tx1"/>
                </a:solidFill>
              </a:rPr>
              <a:t>"Paid" not defined; screenshots and counsellor entries treated as payment</a:t>
            </a:r>
            <a:endParaRPr lang="en-US" sz="1400" dirty="0"/>
          </a:p>
          <a:p>
            <a:pPr indent="0" marL="0">
              <a:buNone/>
            </a:pPr>
            <a:r>
              <a:rPr lang="en-US" sz="1000" b="1" dirty="0">
                <a:solidFill>
                  <a:schemeClr val="accent3"/>
                </a:solidFill>
              </a:rPr>
              <a:t>BLOCKER  </a:t>
            </a:r>
            <a:pPr indent="0" marL="0">
              <a:spcAft>
                <a:spcPts val="900"/>
              </a:spcAft>
              <a:buNone/>
            </a:pPr>
            <a:r>
              <a:rPr lang="en-US" sz="1400" dirty="0">
                <a:solidFill>
                  <a:schemeClr val="tx1"/>
                </a:solidFill>
              </a:rPr>
              <a:t>No fee component order, overpayment or credit-balance rule</a:t>
            </a:r>
            <a:endParaRPr lang="en-US" sz="1400" dirty="0"/>
          </a:p>
        </p:txBody>
      </p:sp>
      <p:sp>
        <p:nvSpPr>
          <p:cNvPr id="6" name="Shape 4"/>
          <p:cNvSpPr/>
          <p:nvPr/>
        </p:nvSpPr>
        <p:spPr>
          <a:xfrm>
            <a:off x="4288536" y="1325880"/>
            <a:ext cx="3611880" cy="2194560"/>
          </a:xfrm>
          <a:prstGeom prst="roundRect">
            <a:avLst>
              <a:gd name="adj" fmla="val 2500"/>
            </a:avLst>
          </a:prstGeom>
          <a:solidFill>
            <a:schemeClr val="accent6"/>
          </a:solidFill>
          <a:ln w="9525">
            <a:solidFill>
              <a:schemeClr val="accent5"/>
            </a:solidFill>
            <a:prstDash val="solid"/>
          </a:ln>
        </p:spPr>
      </p:sp>
      <p:sp>
        <p:nvSpPr>
          <p:cNvPr id="7" name="Text 5"/>
          <p:cNvSpPr txBox="1"/>
          <p:nvPr/>
        </p:nvSpPr>
        <p:spPr>
          <a:xfrm>
            <a:off x="4453128" y="1453896"/>
            <a:ext cx="3282696" cy="292608"/>
          </a:xfrm>
          <a:prstGeom prst="rect">
            <a:avLst/>
          </a:prstGeom>
          <a:noFill/>
          <a:ln/>
        </p:spPr>
        <p:txBody>
          <a:bodyPr wrap="square" lIns="0" tIns="0" rIns="0" bIns="0" rtlCol="0" anchor="t"/>
          <a:lstStyle/>
          <a:p>
            <a:pPr indent="0" marL="0">
              <a:buNone/>
            </a:pPr>
            <a:r>
              <a:rPr lang="en-US" sz="1400" b="1" dirty="0">
                <a:solidFill>
                  <a:schemeClr val="accent1"/>
                </a:solidFill>
              </a:rPr>
              <a:t>User journeys</a:t>
            </a:r>
            <a:endParaRPr lang="en-US" sz="1400" dirty="0"/>
          </a:p>
        </p:txBody>
      </p:sp>
      <p:sp>
        <p:nvSpPr>
          <p:cNvPr id="8" name="Text 6"/>
          <p:cNvSpPr txBox="1"/>
          <p:nvPr/>
        </p:nvSpPr>
        <p:spPr>
          <a:xfrm>
            <a:off x="4453128" y="1828800"/>
            <a:ext cx="3282696" cy="1600200"/>
          </a:xfrm>
          <a:prstGeom prst="rect">
            <a:avLst/>
          </a:prstGeom>
          <a:noFill/>
          <a:ln/>
        </p:spPr>
        <p:txBody>
          <a:bodyPr wrap="square" lIns="0" tIns="0" rIns="0" bIns="0" rtlCol="0" anchor="t"/>
          <a:lstStyle/>
          <a:p>
            <a:pPr indent="0" marL="0">
              <a:buNone/>
            </a:pPr>
            <a:r>
              <a:rPr lang="en-US" sz="1000" b="1" dirty="0">
                <a:solidFill>
                  <a:schemeClr val="accent3"/>
                </a:solidFill>
              </a:rPr>
              <a:t>BLOCKER  </a:t>
            </a:r>
            <a:pPr indent="0" marL="0">
              <a:spcAft>
                <a:spcPts val="900"/>
              </a:spcAft>
              <a:buNone/>
            </a:pPr>
            <a:r>
              <a:rPr lang="en-US" sz="1400" dirty="0">
                <a:solidFill>
                  <a:schemeClr val="tx1"/>
                </a:solidFill>
              </a:rPr>
              <a:t>Only student upload defined; no Ops, Finance or approval journey</a:t>
            </a:r>
            <a:endParaRPr lang="en-US" sz="1400" dirty="0"/>
          </a:p>
          <a:p>
            <a:pPr indent="0" marL="0">
              <a:buNone/>
            </a:pPr>
            <a:r>
              <a:rPr lang="en-US" sz="1000" b="1" dirty="0">
                <a:solidFill>
                  <a:schemeClr val="accent4"/>
                </a:solidFill>
              </a:rPr>
              <a:t>LATER  </a:t>
            </a:r>
            <a:pPr indent="0" marL="0">
              <a:spcAft>
                <a:spcPts val="900"/>
              </a:spcAft>
              <a:buNone/>
            </a:pPr>
            <a:r>
              <a:rPr lang="en-US" sz="1400" dirty="0">
                <a:solidFill>
                  <a:schemeClr val="tx1"/>
                </a:solidFill>
              </a:rPr>
              <a:t>Student cannot see pending vs verified or raise a mismatch</a:t>
            </a:r>
            <a:endParaRPr lang="en-US" sz="1400" dirty="0"/>
          </a:p>
        </p:txBody>
      </p:sp>
      <p:sp>
        <p:nvSpPr>
          <p:cNvPr id="9" name="Shape 7"/>
          <p:cNvSpPr/>
          <p:nvPr/>
        </p:nvSpPr>
        <p:spPr>
          <a:xfrm>
            <a:off x="8119872" y="1325880"/>
            <a:ext cx="3611880" cy="2194560"/>
          </a:xfrm>
          <a:prstGeom prst="roundRect">
            <a:avLst>
              <a:gd name="adj" fmla="val 2500"/>
            </a:avLst>
          </a:prstGeom>
          <a:solidFill>
            <a:schemeClr val="accent6"/>
          </a:solidFill>
          <a:ln w="9525">
            <a:solidFill>
              <a:schemeClr val="accent5"/>
            </a:solidFill>
            <a:prstDash val="solid"/>
          </a:ln>
        </p:spPr>
      </p:sp>
      <p:sp>
        <p:nvSpPr>
          <p:cNvPr id="10" name="Text 8"/>
          <p:cNvSpPr txBox="1"/>
          <p:nvPr/>
        </p:nvSpPr>
        <p:spPr>
          <a:xfrm>
            <a:off x="8284464" y="1453896"/>
            <a:ext cx="3282696" cy="292608"/>
          </a:xfrm>
          <a:prstGeom prst="rect">
            <a:avLst/>
          </a:prstGeom>
          <a:noFill/>
          <a:ln/>
        </p:spPr>
        <p:txBody>
          <a:bodyPr wrap="square" lIns="0" tIns="0" rIns="0" bIns="0" rtlCol="0" anchor="t"/>
          <a:lstStyle/>
          <a:p>
            <a:pPr indent="0" marL="0">
              <a:buNone/>
            </a:pPr>
            <a:r>
              <a:rPr lang="en-US" sz="1400" b="1" dirty="0">
                <a:solidFill>
                  <a:schemeClr val="accent1"/>
                </a:solidFill>
              </a:rPr>
              <a:t>Technical and integration</a:t>
            </a:r>
            <a:endParaRPr lang="en-US" sz="1400" dirty="0"/>
          </a:p>
        </p:txBody>
      </p:sp>
      <p:sp>
        <p:nvSpPr>
          <p:cNvPr id="11" name="Text 9"/>
          <p:cNvSpPr txBox="1"/>
          <p:nvPr/>
        </p:nvSpPr>
        <p:spPr>
          <a:xfrm>
            <a:off x="8284464" y="1828800"/>
            <a:ext cx="3282696" cy="1600200"/>
          </a:xfrm>
          <a:prstGeom prst="rect">
            <a:avLst/>
          </a:prstGeom>
          <a:noFill/>
          <a:ln/>
        </p:spPr>
        <p:txBody>
          <a:bodyPr wrap="square" lIns="0" tIns="0" rIns="0" bIns="0" rtlCol="0" anchor="t"/>
          <a:lstStyle/>
          <a:p>
            <a:pPr indent="0" marL="0">
              <a:buNone/>
            </a:pPr>
            <a:r>
              <a:rPr lang="en-US" sz="1000" b="1" dirty="0">
                <a:solidFill>
                  <a:schemeClr val="accent3"/>
                </a:solidFill>
              </a:rPr>
              <a:t>BLOCKER  </a:t>
            </a:r>
            <a:pPr indent="0" marL="0">
              <a:spcAft>
                <a:spcPts val="900"/>
              </a:spcAft>
              <a:buNone/>
            </a:pPr>
            <a:r>
              <a:rPr lang="en-US" sz="1400" dirty="0">
                <a:solidFill>
                  <a:schemeClr val="tx1"/>
                </a:solidFill>
              </a:rPr>
              <a:t>No bank / gateway / UPI feed; no source of truth for money received</a:t>
            </a:r>
            <a:endParaRPr lang="en-US" sz="1400" dirty="0"/>
          </a:p>
          <a:p>
            <a:pPr indent="0" marL="0">
              <a:buNone/>
            </a:pPr>
            <a:r>
              <a:rPr lang="en-US" sz="1000" b="1" dirty="0">
                <a:solidFill>
                  <a:schemeClr val="accent3"/>
                </a:solidFill>
              </a:rPr>
              <a:t>BLOCKER  </a:t>
            </a:r>
            <a:pPr indent="0" marL="0">
              <a:spcAft>
                <a:spcPts val="900"/>
              </a:spcAft>
              <a:buNone/>
            </a:pPr>
            <a:r>
              <a:rPr lang="en-US" sz="1400" dirty="0">
                <a:solidFill>
                  <a:schemeClr val="tx1"/>
                </a:solidFill>
              </a:rPr>
              <a:t>System of record and sync with the student-management system undefined</a:t>
            </a:r>
            <a:endParaRPr lang="en-US" sz="1400" dirty="0"/>
          </a:p>
        </p:txBody>
      </p:sp>
      <p:sp>
        <p:nvSpPr>
          <p:cNvPr id="12" name="Shape 10"/>
          <p:cNvSpPr/>
          <p:nvPr/>
        </p:nvSpPr>
        <p:spPr>
          <a:xfrm>
            <a:off x="457200" y="3721608"/>
            <a:ext cx="3611880" cy="2194560"/>
          </a:xfrm>
          <a:prstGeom prst="roundRect">
            <a:avLst>
              <a:gd name="adj" fmla="val 2500"/>
            </a:avLst>
          </a:prstGeom>
          <a:solidFill>
            <a:schemeClr val="accent6"/>
          </a:solidFill>
          <a:ln w="9525">
            <a:solidFill>
              <a:schemeClr val="accent5"/>
            </a:solidFill>
            <a:prstDash val="solid"/>
          </a:ln>
        </p:spPr>
      </p:sp>
      <p:sp>
        <p:nvSpPr>
          <p:cNvPr id="13" name="Text 11"/>
          <p:cNvSpPr txBox="1"/>
          <p:nvPr/>
        </p:nvSpPr>
        <p:spPr>
          <a:xfrm>
            <a:off x="621792" y="3849624"/>
            <a:ext cx="3282696" cy="292608"/>
          </a:xfrm>
          <a:prstGeom prst="rect">
            <a:avLst/>
          </a:prstGeom>
          <a:noFill/>
          <a:ln/>
        </p:spPr>
        <p:txBody>
          <a:bodyPr wrap="square" lIns="0" tIns="0" rIns="0" bIns="0" rtlCol="0" anchor="t"/>
          <a:lstStyle/>
          <a:p>
            <a:pPr indent="0" marL="0">
              <a:buNone/>
            </a:pPr>
            <a:r>
              <a:rPr lang="en-US" sz="1400" b="1" dirty="0">
                <a:solidFill>
                  <a:schemeClr val="accent1"/>
                </a:solidFill>
              </a:rPr>
              <a:t>Data accuracy and control</a:t>
            </a:r>
            <a:endParaRPr lang="en-US" sz="1400" dirty="0"/>
          </a:p>
        </p:txBody>
      </p:sp>
      <p:sp>
        <p:nvSpPr>
          <p:cNvPr id="14" name="Text 12"/>
          <p:cNvSpPr txBox="1"/>
          <p:nvPr/>
        </p:nvSpPr>
        <p:spPr>
          <a:xfrm>
            <a:off x="621792" y="4224528"/>
            <a:ext cx="3282696" cy="1600200"/>
          </a:xfrm>
          <a:prstGeom prst="rect">
            <a:avLst/>
          </a:prstGeom>
          <a:noFill/>
          <a:ln/>
        </p:spPr>
        <p:txBody>
          <a:bodyPr wrap="square" lIns="0" tIns="0" rIns="0" bIns="0" rtlCol="0" anchor="t"/>
          <a:lstStyle/>
          <a:p>
            <a:pPr indent="0" marL="0">
              <a:buNone/>
            </a:pPr>
            <a:r>
              <a:rPr lang="en-US" sz="1000" b="1" dirty="0">
                <a:solidFill>
                  <a:schemeClr val="accent3"/>
                </a:solidFill>
              </a:rPr>
              <a:t>BLOCKER  </a:t>
            </a:r>
            <a:pPr indent="0" marL="0">
              <a:spcAft>
                <a:spcPts val="900"/>
              </a:spcAft>
              <a:buNone/>
            </a:pPr>
            <a:r>
              <a:rPr lang="en-US" sz="1400" dirty="0">
                <a:solidFill>
                  <a:schemeClr val="tx1"/>
                </a:solidFill>
              </a:rPr>
              <a:t>Name fallback allocates to the wrong student (shared surnames, parents paying)</a:t>
            </a:r>
            <a:endParaRPr lang="en-US" sz="1400" dirty="0"/>
          </a:p>
          <a:p>
            <a:pPr indent="0" marL="0">
              <a:buNone/>
            </a:pPr>
            <a:r>
              <a:rPr lang="en-US" sz="1000" b="1" dirty="0">
                <a:solidFill>
                  <a:schemeClr val="accent3"/>
                </a:solidFill>
              </a:rPr>
              <a:t>BLOCKER  </a:t>
            </a:r>
            <a:pPr indent="0" marL="0">
              <a:spcAft>
                <a:spcPts val="900"/>
              </a:spcAft>
              <a:buNone/>
            </a:pPr>
            <a:r>
              <a:rPr lang="en-US" sz="1400" dirty="0">
                <a:solidFill>
                  <a:schemeClr val="tx1"/>
                </a:solidFill>
              </a:rPr>
              <a:t>Counsellors can edit payments and mark cash paid; no maker-checker or audit trail</a:t>
            </a:r>
            <a:endParaRPr lang="en-US" sz="1400" dirty="0"/>
          </a:p>
        </p:txBody>
      </p:sp>
      <p:sp>
        <p:nvSpPr>
          <p:cNvPr id="15" name="Shape 13"/>
          <p:cNvSpPr/>
          <p:nvPr/>
        </p:nvSpPr>
        <p:spPr>
          <a:xfrm>
            <a:off x="4288536" y="3721608"/>
            <a:ext cx="3611880" cy="2194560"/>
          </a:xfrm>
          <a:prstGeom prst="roundRect">
            <a:avLst>
              <a:gd name="adj" fmla="val 2500"/>
            </a:avLst>
          </a:prstGeom>
          <a:solidFill>
            <a:schemeClr val="accent6"/>
          </a:solidFill>
          <a:ln w="9525">
            <a:solidFill>
              <a:schemeClr val="accent5"/>
            </a:solidFill>
            <a:prstDash val="solid"/>
          </a:ln>
        </p:spPr>
      </p:sp>
      <p:sp>
        <p:nvSpPr>
          <p:cNvPr id="16" name="Text 14"/>
          <p:cNvSpPr txBox="1"/>
          <p:nvPr/>
        </p:nvSpPr>
        <p:spPr>
          <a:xfrm>
            <a:off x="4453128" y="3849624"/>
            <a:ext cx="3282696" cy="292608"/>
          </a:xfrm>
          <a:prstGeom prst="rect">
            <a:avLst/>
          </a:prstGeom>
          <a:noFill/>
          <a:ln/>
        </p:spPr>
        <p:txBody>
          <a:bodyPr wrap="square" lIns="0" tIns="0" rIns="0" bIns="0" rtlCol="0" anchor="t"/>
          <a:lstStyle/>
          <a:p>
            <a:pPr indent="0" marL="0">
              <a:buNone/>
            </a:pPr>
            <a:r>
              <a:rPr lang="en-US" sz="1400" b="1" dirty="0">
                <a:solidFill>
                  <a:schemeClr val="accent1"/>
                </a:solidFill>
              </a:rPr>
              <a:t>Exception handling</a:t>
            </a:r>
            <a:endParaRPr lang="en-US" sz="1400" dirty="0"/>
          </a:p>
        </p:txBody>
      </p:sp>
      <p:sp>
        <p:nvSpPr>
          <p:cNvPr id="17" name="Text 15"/>
          <p:cNvSpPr txBox="1"/>
          <p:nvPr/>
        </p:nvSpPr>
        <p:spPr>
          <a:xfrm>
            <a:off x="4453128" y="4224528"/>
            <a:ext cx="3282696" cy="1600200"/>
          </a:xfrm>
          <a:prstGeom prst="rect">
            <a:avLst/>
          </a:prstGeom>
          <a:noFill/>
          <a:ln/>
        </p:spPr>
        <p:txBody>
          <a:bodyPr wrap="square" lIns="0" tIns="0" rIns="0" bIns="0" rtlCol="0" anchor="t"/>
          <a:lstStyle/>
          <a:p>
            <a:pPr indent="0" marL="0">
              <a:buNone/>
            </a:pPr>
            <a:r>
              <a:rPr lang="en-US" sz="1000" b="1" dirty="0">
                <a:solidFill>
                  <a:schemeClr val="accent3"/>
                </a:solidFill>
              </a:rPr>
              <a:t>BLOCKER  </a:t>
            </a:r>
            <a:pPr indent="0" marL="0">
              <a:spcAft>
                <a:spcPts val="900"/>
              </a:spcAft>
              <a:buNone/>
            </a:pPr>
            <a:r>
              <a:rPr lang="en-US" sz="1400" dirty="0">
                <a:solidFill>
                  <a:schemeClr val="tx1"/>
                </a:solidFill>
              </a:rPr>
              <a:t>No duplicate detection; P4 would be credited and receipted twice</a:t>
            </a:r>
            <a:endParaRPr lang="en-US" sz="1400" dirty="0"/>
          </a:p>
          <a:p>
            <a:pPr indent="0" marL="0">
              <a:buNone/>
            </a:pPr>
            <a:r>
              <a:rPr lang="en-US" sz="1000" b="1" dirty="0">
                <a:solidFill>
                  <a:schemeClr val="accent3"/>
                </a:solidFill>
              </a:rPr>
              <a:t>BLOCKER  </a:t>
            </a:r>
            <a:pPr indent="0" marL="0">
              <a:spcAft>
                <a:spcPts val="900"/>
              </a:spcAft>
              <a:buNone/>
            </a:pPr>
            <a:r>
              <a:rPr lang="en-US" sz="1400" dirty="0">
                <a:solidFill>
                  <a:schemeClr val="tx1"/>
                </a:solidFill>
              </a:rPr>
              <a:t>Splits, partial payments, reversals, refunds and early payments not handled</a:t>
            </a:r>
            <a:endParaRPr lang="en-US" sz="1400" dirty="0"/>
          </a:p>
        </p:txBody>
      </p:sp>
      <p:sp>
        <p:nvSpPr>
          <p:cNvPr id="18" name="Shape 16"/>
          <p:cNvSpPr/>
          <p:nvPr/>
        </p:nvSpPr>
        <p:spPr>
          <a:xfrm>
            <a:off x="8119872" y="3721608"/>
            <a:ext cx="3611880" cy="2194560"/>
          </a:xfrm>
          <a:prstGeom prst="roundRect">
            <a:avLst>
              <a:gd name="adj" fmla="val 2500"/>
            </a:avLst>
          </a:prstGeom>
          <a:solidFill>
            <a:schemeClr val="accent6"/>
          </a:solidFill>
          <a:ln w="9525">
            <a:solidFill>
              <a:schemeClr val="accent5"/>
            </a:solidFill>
            <a:prstDash val="solid"/>
          </a:ln>
        </p:spPr>
      </p:sp>
      <p:sp>
        <p:nvSpPr>
          <p:cNvPr id="19" name="Text 17"/>
          <p:cNvSpPr txBox="1"/>
          <p:nvPr/>
        </p:nvSpPr>
        <p:spPr>
          <a:xfrm>
            <a:off x="8284464" y="3849624"/>
            <a:ext cx="3282696" cy="292608"/>
          </a:xfrm>
          <a:prstGeom prst="rect">
            <a:avLst/>
          </a:prstGeom>
          <a:noFill/>
          <a:ln/>
        </p:spPr>
        <p:txBody>
          <a:bodyPr wrap="square" lIns="0" tIns="0" rIns="0" bIns="0" rtlCol="0" anchor="t"/>
          <a:lstStyle/>
          <a:p>
            <a:pPr indent="0" marL="0">
              <a:buNone/>
            </a:pPr>
            <a:r>
              <a:rPr lang="en-US" sz="1400" b="1" dirty="0">
                <a:solidFill>
                  <a:schemeClr val="accent1"/>
                </a:solidFill>
              </a:rPr>
              <a:t>Usability and reporting</a:t>
            </a:r>
            <a:endParaRPr lang="en-US" sz="1400" dirty="0"/>
          </a:p>
        </p:txBody>
      </p:sp>
      <p:sp>
        <p:nvSpPr>
          <p:cNvPr id="20" name="Text 18"/>
          <p:cNvSpPr txBox="1"/>
          <p:nvPr/>
        </p:nvSpPr>
        <p:spPr>
          <a:xfrm>
            <a:off x="8284464" y="4224528"/>
            <a:ext cx="3282696" cy="1600200"/>
          </a:xfrm>
          <a:prstGeom prst="rect">
            <a:avLst/>
          </a:prstGeom>
          <a:noFill/>
          <a:ln/>
        </p:spPr>
        <p:txBody>
          <a:bodyPr wrap="square" lIns="0" tIns="0" rIns="0" bIns="0" rtlCol="0" anchor="t"/>
          <a:lstStyle/>
          <a:p>
            <a:pPr indent="0" marL="0">
              <a:buNone/>
            </a:pPr>
            <a:r>
              <a:rPr lang="en-US" sz="1000" b="1" dirty="0">
                <a:solidFill>
                  <a:schemeClr val="accent4"/>
                </a:solidFill>
              </a:rPr>
              <a:t>LATER  </a:t>
            </a:r>
            <a:pPr indent="0" marL="0">
              <a:spcAft>
                <a:spcPts val="900"/>
              </a:spcAft>
              <a:buNone/>
            </a:pPr>
            <a:r>
              <a:rPr lang="en-US" sz="1400" dirty="0">
                <a:solidFill>
                  <a:schemeClr val="tx1"/>
                </a:solidFill>
              </a:rPr>
              <a:t>Dashboard lacks UTR, evidence status, fee component and age; no ageing or tie-out reports</a:t>
            </a:r>
            <a:endParaRPr lang="en-US" sz="1400" dirty="0"/>
          </a:p>
          <a:p>
            <a:pPr indent="0" marL="0">
              <a:buNone/>
            </a:pPr>
            <a:r>
              <a:rPr lang="en-US" sz="1000" b="1" dirty="0">
                <a:solidFill>
                  <a:schemeClr val="accent3"/>
                </a:solidFill>
              </a:rPr>
              <a:t>BLOCKER  </a:t>
            </a:r>
            <a:pPr indent="0" marL="0">
              <a:spcAft>
                <a:spcPts val="900"/>
              </a:spcAft>
              <a:buNone/>
            </a:pPr>
            <a:r>
              <a:rPr lang="en-US" sz="1400" dirty="0">
                <a:solidFill>
                  <a:schemeClr val="tx1"/>
                </a:solidFill>
              </a:rPr>
              <a:t>"Eliminate manual reconciliation" and the 2-week estimate are not measurable or validated</a:t>
            </a:r>
            <a:endParaRPr lang="en-US" sz="1400" dirty="0"/>
          </a:p>
        </p:txBody>
      </p:sp>
      <p:sp>
        <p:nvSpPr>
          <p:cNvPr id="21" name="Text 19"/>
          <p:cNvSpPr txBox="1"/>
          <p:nvPr/>
        </p:nvSpPr>
        <p:spPr>
          <a:xfrm>
            <a:off x="457200" y="6053328"/>
            <a:ext cx="11247120" cy="292608"/>
          </a:xfrm>
          <a:prstGeom prst="rect">
            <a:avLst/>
          </a:prstGeom>
          <a:noFill/>
          <a:ln/>
        </p:spPr>
        <p:txBody>
          <a:bodyPr wrap="square" lIns="0" tIns="0" rIns="0" bIns="0" rtlCol="0" anchor="t"/>
          <a:lstStyle/>
          <a:p>
            <a:pPr indent="0" marL="0">
              <a:buNone/>
            </a:pPr>
            <a:r>
              <a:rPr lang="en-US" sz="1300" b="1" dirty="0">
                <a:solidFill>
                  <a:schemeClr val="accent3"/>
                </a:solidFill>
              </a:rPr>
              <a:t>Blocker: </a:t>
            </a:r>
            <a:pPr indent="0" marL="0">
              <a:buNone/>
            </a:pPr>
            <a:r>
              <a:rPr lang="en-US" sz="1300" dirty="0">
                <a:solidFill>
                  <a:schemeClr val="tx1"/>
                </a:solidFill>
              </a:rPr>
              <a:t>changes the data model or money rules; resolved in the PRD before build. Full table: PRD Appendix 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Payments are confirmed by the bank feed, then allocated, then receipted</a:t>
            </a:r>
            <a:endParaRPr lang="en-US" sz="2400" dirty="0"/>
          </a:p>
        </p:txBody>
      </p:sp>
      <p:pic>
        <p:nvPicPr>
          <p:cNvPr id="3" name="Image 0" descr="Payment workflow: capture, verify, match, approve and post, outcome">    </p:cNvPr>
          <p:cNvPicPr>
            <a:picLocks noChangeAspect="1"/>
          </p:cNvPicPr>
          <p:nvPr/>
        </p:nvPicPr>
        <p:blipFill>
          <a:blip r:embed="rId1"/>
          <a:stretch>
            <a:fillRect/>
          </a:stretch>
        </p:blipFill>
        <p:spPr>
          <a:xfrm>
            <a:off x="685800" y="1188720"/>
            <a:ext cx="10789920" cy="50577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Of ₹1.4 lakh reported, ₹1 lakh is bank-confirmed and ₹25,000 posts automatically</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74552" cy="914400"/>
        </p:xfrm>
        <a:graphic>
          <a:graphicData uri="http://schemas.openxmlformats.org/drawingml/2006/table">
            <a:tbl>
              <a:tblPr/>
              <a:tblGrid>
                <a:gridCol w="502920"/>
                <a:gridCol w="868680"/>
                <a:gridCol w="1371600"/>
                <a:gridCol w="2057400"/>
                <a:gridCol w="3639312"/>
                <a:gridCol w="2834640"/>
              </a:tblGrid>
              <a:tr h="365760">
                <a:tc>
                  <a:txBody>
                    <a:bodyPr/>
                    <a:lstStyle/>
                    <a:p>
                      <a:pPr indent="0" marL="0">
                        <a:buNone/>
                      </a:pPr>
                      <a:r>
                        <a:rPr lang="en-US" sz="1100" b="1" dirty="0">
                          <a:solidFill>
                            <a:schemeClr val="bg1"/>
                          </a:solidFill>
                        </a:rPr>
                        <a:t>Rec</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Amount</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Evidence</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Result</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Cannot yet conclude / note</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00" b="1" dirty="0">
                          <a:solidFill>
                            <a:schemeClr val="bg1"/>
                          </a:solidFill>
                        </a:rPr>
                        <a:t>Needed to allocate</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r>
              <a:tr h="365760">
                <a:tc>
                  <a:txBody>
                    <a:bodyPr/>
                    <a:lstStyle/>
                    <a:p>
                      <a:pPr algn="l" indent="0" marL="0">
                        <a:buNone/>
                      </a:pPr>
                      <a:r>
                        <a:rPr lang="en-US" sz="1100" b="1" dirty="0">
                          <a:solidFill>
                            <a:schemeClr val="tx1"/>
                          </a:solidFill>
                        </a:rPr>
                        <a:t>P1</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₹10,000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Bank-confirmed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1"/>
                          </a:solidFill>
                        </a:rPr>
                        <a:t>Allocated (auto) → S101</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Reference names S101; sender contact not needed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Nothing. Sender account offered for linking</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P2</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₹20,000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Bank-confirmed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2"/>
                          </a:solidFill>
                        </a:rPr>
                        <a:t>Suggested (Low)</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Owner unknown; surname match to S102 only; may relate to claim P7</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Claim UTR = bank UTR, or payer confirmed as S102 guardian</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P3</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₹15,000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Bank-confirmed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1"/>
                          </a:solidFill>
                        </a:rPr>
                        <a:t>Allocated (auto) → S103</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Reference names S103</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Nothing</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P4</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₹10,000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Same UTR as P1</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3"/>
                          </a:solidFill>
                        </a:rPr>
                        <a:t>Duplicate</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No new money; no ledger entry or receipt</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Nothing; logged in import report</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P5</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₹10,000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Counsellor report</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3"/>
                          </a:solidFill>
                        </a:rPr>
                        <a:t>Cash: Reported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Cash not shown to have reached the college</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Deposit credit linked and verified by Finance</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P6</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₹30,000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Bank-confirmed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2"/>
                          </a:solidFill>
                        </a:rPr>
                        <a:t>Pending approval (split)</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Split S101 ₹15k + S104 ₹15k per payer note; S101 overpayment to check</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Finance approval; overpayment check</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P7</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₹20,000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Screenshot only</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3"/>
                          </a:solidFill>
                        </a:rPr>
                        <a:t>Claim: Awaiting bank</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No evidence money was paid; may be P2</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Readable UTR matching a credit; Ops after 3 working days</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P8</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−₹5,000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Bank debit</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1"/>
                          </a:solidFill>
                        </a:rPr>
                        <a:t>P3 partly reversed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S103 outstanding +₹5,000; credit note; reason unknown</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Finance classifies reason</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65760">
                <a:tc>
                  <a:txBody>
                    <a:bodyPr/>
                    <a:lstStyle/>
                    <a:p>
                      <a:pPr algn="l" indent="0" marL="0">
                        <a:buNone/>
                      </a:pPr>
                      <a:r>
                        <a:rPr lang="en-US" sz="1100" b="1" dirty="0">
                          <a:solidFill>
                            <a:schemeClr val="tx1"/>
                          </a:solidFill>
                        </a:rPr>
                        <a:t>P9</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r" indent="0" marL="0">
                        <a:buNone/>
                      </a:pPr>
                      <a:r>
                        <a:rPr lang="en-US" sz="1100" dirty="0">
                          <a:solidFill>
                            <a:schemeClr val="tx1"/>
                          </a:solidFill>
                        </a:rPr>
                        <a:t>₹25,000</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Bank-confirmed</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00" b="1" dirty="0">
                          <a:solidFill>
                            <a:schemeClr val="accent2"/>
                          </a:solidFill>
                        </a:rPr>
                        <a:t>Suggested (Medium)</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Owner unknown; payer name equals S104 name</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algn="l" indent="0" marL="0">
                        <a:buNone/>
                      </a:pPr>
                      <a:r>
                        <a:rPr lang="en-US" sz="1100" dirty="0">
                          <a:solidFill>
                            <a:schemeClr val="tx1"/>
                          </a:solidFill>
                        </a:rPr>
                        <a:t>Student ID from payer, or payer confirmed by S104</a:t>
                      </a:r>
                      <a:endParaRPr lang="en-US" sz="110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sp>
        <p:nvSpPr>
          <p:cNvPr id="4" name="Shape 1"/>
          <p:cNvSpPr/>
          <p:nvPr/>
        </p:nvSpPr>
        <p:spPr>
          <a:xfrm>
            <a:off x="457200" y="5138928"/>
            <a:ext cx="2697480" cy="841248"/>
          </a:xfrm>
          <a:prstGeom prst="rect">
            <a:avLst/>
          </a:prstGeom>
          <a:solidFill>
            <a:schemeClr val="accent6"/>
          </a:solidFill>
          <a:ln w="6350">
            <a:solidFill>
              <a:schemeClr val="accent5"/>
            </a:solidFill>
            <a:prstDash val="solid"/>
          </a:ln>
        </p:spPr>
      </p:sp>
      <p:sp>
        <p:nvSpPr>
          <p:cNvPr id="5" name="Text 2"/>
          <p:cNvSpPr txBox="1"/>
          <p:nvPr/>
        </p:nvSpPr>
        <p:spPr>
          <a:xfrm>
            <a:off x="594360" y="5212080"/>
            <a:ext cx="2468880" cy="384048"/>
          </a:xfrm>
          <a:prstGeom prst="rect">
            <a:avLst/>
          </a:prstGeom>
          <a:noFill/>
          <a:ln/>
        </p:spPr>
        <p:txBody>
          <a:bodyPr wrap="square" lIns="0" tIns="0" rIns="0" bIns="0" rtlCol="0" anchor="t"/>
          <a:lstStyle/>
          <a:p>
            <a:pPr indent="0" marL="0">
              <a:buNone/>
            </a:pPr>
            <a:r>
              <a:rPr lang="en-US" sz="2200" b="1" dirty="0">
                <a:solidFill>
                  <a:schemeClr val="accent1"/>
                </a:solidFill>
              </a:rPr>
              <a:t>₹1,00,000</a:t>
            </a:r>
            <a:endParaRPr lang="en-US" sz="2200" dirty="0"/>
          </a:p>
        </p:txBody>
      </p:sp>
      <p:sp>
        <p:nvSpPr>
          <p:cNvPr id="6" name="Text 3"/>
          <p:cNvSpPr txBox="1"/>
          <p:nvPr/>
        </p:nvSpPr>
        <p:spPr>
          <a:xfrm>
            <a:off x="594360" y="5596128"/>
            <a:ext cx="2468880" cy="411480"/>
          </a:xfrm>
          <a:prstGeom prst="rect">
            <a:avLst/>
          </a:prstGeom>
          <a:noFill/>
          <a:ln/>
        </p:spPr>
        <p:txBody>
          <a:bodyPr wrap="square" lIns="0" tIns="0" rIns="0" bIns="0" rtlCol="0" anchor="t"/>
          <a:lstStyle/>
          <a:p>
            <a:pPr indent="0" marL="0">
              <a:buNone/>
            </a:pPr>
            <a:r>
              <a:rPr lang="en-US" sz="1100" dirty="0">
                <a:solidFill>
                  <a:schemeClr val="accent4"/>
                </a:solidFill>
              </a:rPr>
              <a:t>bank-confirmed credits; ₹95,000 net of P8</a:t>
            </a:r>
            <a:endParaRPr lang="en-US" sz="1100" dirty="0"/>
          </a:p>
        </p:txBody>
      </p:sp>
      <p:sp>
        <p:nvSpPr>
          <p:cNvPr id="7" name="Shape 4"/>
          <p:cNvSpPr/>
          <p:nvPr/>
        </p:nvSpPr>
        <p:spPr>
          <a:xfrm>
            <a:off x="3319272" y="5138928"/>
            <a:ext cx="2697480" cy="841248"/>
          </a:xfrm>
          <a:prstGeom prst="rect">
            <a:avLst/>
          </a:prstGeom>
          <a:solidFill>
            <a:schemeClr val="accent6"/>
          </a:solidFill>
          <a:ln w="6350">
            <a:solidFill>
              <a:schemeClr val="accent5"/>
            </a:solidFill>
            <a:prstDash val="solid"/>
          </a:ln>
        </p:spPr>
      </p:sp>
      <p:sp>
        <p:nvSpPr>
          <p:cNvPr id="8" name="Text 5"/>
          <p:cNvSpPr txBox="1"/>
          <p:nvPr/>
        </p:nvSpPr>
        <p:spPr>
          <a:xfrm>
            <a:off x="3456432" y="5212080"/>
            <a:ext cx="2468880" cy="384048"/>
          </a:xfrm>
          <a:prstGeom prst="rect">
            <a:avLst/>
          </a:prstGeom>
          <a:noFill/>
          <a:ln/>
        </p:spPr>
        <p:txBody>
          <a:bodyPr wrap="square" lIns="0" tIns="0" rIns="0" bIns="0" rtlCol="0" anchor="t"/>
          <a:lstStyle/>
          <a:p>
            <a:pPr indent="0" marL="0">
              <a:buNone/>
            </a:pPr>
            <a:r>
              <a:rPr lang="en-US" sz="2200" b="1" dirty="0">
                <a:solidFill>
                  <a:schemeClr val="accent1"/>
                </a:solidFill>
              </a:rPr>
              <a:t>₹25,000</a:t>
            </a:r>
            <a:endParaRPr lang="en-US" sz="2200" dirty="0"/>
          </a:p>
        </p:txBody>
      </p:sp>
      <p:sp>
        <p:nvSpPr>
          <p:cNvPr id="9" name="Text 6"/>
          <p:cNvSpPr txBox="1"/>
          <p:nvPr/>
        </p:nvSpPr>
        <p:spPr>
          <a:xfrm>
            <a:off x="3456432" y="5596128"/>
            <a:ext cx="2468880" cy="411480"/>
          </a:xfrm>
          <a:prstGeom prst="rect">
            <a:avLst/>
          </a:prstGeom>
          <a:noFill/>
          <a:ln/>
        </p:spPr>
        <p:txBody>
          <a:bodyPr wrap="square" lIns="0" tIns="0" rIns="0" bIns="0" rtlCol="0" anchor="t"/>
          <a:lstStyle/>
          <a:p>
            <a:pPr indent="0" marL="0">
              <a:buNone/>
            </a:pPr>
            <a:r>
              <a:rPr lang="en-US" sz="1100" dirty="0">
                <a:solidFill>
                  <a:schemeClr val="accent4"/>
                </a:solidFill>
              </a:rPr>
              <a:t>posted automatically (P1, P3); P8 reversal also automatic</a:t>
            </a:r>
            <a:endParaRPr lang="en-US" sz="1100" dirty="0"/>
          </a:p>
        </p:txBody>
      </p:sp>
      <p:sp>
        <p:nvSpPr>
          <p:cNvPr id="10" name="Shape 7"/>
          <p:cNvSpPr/>
          <p:nvPr/>
        </p:nvSpPr>
        <p:spPr>
          <a:xfrm>
            <a:off x="6181344" y="5138928"/>
            <a:ext cx="2697480" cy="841248"/>
          </a:xfrm>
          <a:prstGeom prst="rect">
            <a:avLst/>
          </a:prstGeom>
          <a:solidFill>
            <a:schemeClr val="accent6"/>
          </a:solidFill>
          <a:ln w="6350">
            <a:solidFill>
              <a:schemeClr val="accent5"/>
            </a:solidFill>
            <a:prstDash val="solid"/>
          </a:ln>
        </p:spPr>
      </p:sp>
      <p:sp>
        <p:nvSpPr>
          <p:cNvPr id="11" name="Text 8"/>
          <p:cNvSpPr txBox="1"/>
          <p:nvPr/>
        </p:nvSpPr>
        <p:spPr>
          <a:xfrm>
            <a:off x="6318504" y="5212080"/>
            <a:ext cx="2468880" cy="384048"/>
          </a:xfrm>
          <a:prstGeom prst="rect">
            <a:avLst/>
          </a:prstGeom>
          <a:noFill/>
          <a:ln/>
        </p:spPr>
        <p:txBody>
          <a:bodyPr wrap="square" lIns="0" tIns="0" rIns="0" bIns="0" rtlCol="0" anchor="t"/>
          <a:lstStyle/>
          <a:p>
            <a:pPr indent="0" marL="0">
              <a:buNone/>
            </a:pPr>
            <a:r>
              <a:rPr lang="en-US" sz="2200" b="1" dirty="0">
                <a:solidFill>
                  <a:schemeClr val="accent2"/>
                </a:solidFill>
              </a:rPr>
              <a:t>₹75,000</a:t>
            </a:r>
            <a:endParaRPr lang="en-US" sz="2200" dirty="0"/>
          </a:p>
        </p:txBody>
      </p:sp>
      <p:sp>
        <p:nvSpPr>
          <p:cNvPr id="12" name="Text 9"/>
          <p:cNvSpPr txBox="1"/>
          <p:nvPr/>
        </p:nvSpPr>
        <p:spPr>
          <a:xfrm>
            <a:off x="6318504" y="5596128"/>
            <a:ext cx="2468880" cy="411480"/>
          </a:xfrm>
          <a:prstGeom prst="rect">
            <a:avLst/>
          </a:prstGeom>
          <a:noFill/>
          <a:ln/>
        </p:spPr>
        <p:txBody>
          <a:bodyPr wrap="square" lIns="0" tIns="0" rIns="0" bIns="0" rtlCol="0" anchor="t"/>
          <a:lstStyle/>
          <a:p>
            <a:pPr indent="0" marL="0">
              <a:buNone/>
            </a:pPr>
            <a:r>
              <a:rPr lang="en-US" sz="1100" dirty="0">
                <a:solidFill>
                  <a:schemeClr val="accent4"/>
                </a:solidFill>
              </a:rPr>
              <a:t>awaiting human decision (P2, P6, P9)</a:t>
            </a:r>
            <a:endParaRPr lang="en-US" sz="1100" dirty="0"/>
          </a:p>
        </p:txBody>
      </p:sp>
      <p:sp>
        <p:nvSpPr>
          <p:cNvPr id="13" name="Shape 10"/>
          <p:cNvSpPr/>
          <p:nvPr/>
        </p:nvSpPr>
        <p:spPr>
          <a:xfrm>
            <a:off x="9043416" y="5138928"/>
            <a:ext cx="2697480" cy="841248"/>
          </a:xfrm>
          <a:prstGeom prst="rect">
            <a:avLst/>
          </a:prstGeom>
          <a:solidFill>
            <a:schemeClr val="accent6"/>
          </a:solidFill>
          <a:ln w="6350">
            <a:solidFill>
              <a:schemeClr val="accent5"/>
            </a:solidFill>
            <a:prstDash val="solid"/>
          </a:ln>
        </p:spPr>
      </p:sp>
      <p:sp>
        <p:nvSpPr>
          <p:cNvPr id="14" name="Text 11"/>
          <p:cNvSpPr txBox="1"/>
          <p:nvPr/>
        </p:nvSpPr>
        <p:spPr>
          <a:xfrm>
            <a:off x="9180576" y="5212080"/>
            <a:ext cx="2468880" cy="384048"/>
          </a:xfrm>
          <a:prstGeom prst="rect">
            <a:avLst/>
          </a:prstGeom>
          <a:noFill/>
          <a:ln/>
        </p:spPr>
        <p:txBody>
          <a:bodyPr wrap="square" lIns="0" tIns="0" rIns="0" bIns="0" rtlCol="0" anchor="t"/>
          <a:lstStyle/>
          <a:p>
            <a:pPr indent="0" marL="0">
              <a:buNone/>
            </a:pPr>
            <a:r>
              <a:rPr lang="en-US" sz="2200" b="1" dirty="0">
                <a:solidFill>
                  <a:schemeClr val="accent3"/>
                </a:solidFill>
              </a:rPr>
              <a:t>₹40,000</a:t>
            </a:r>
            <a:endParaRPr lang="en-US" sz="2200" dirty="0"/>
          </a:p>
        </p:txBody>
      </p:sp>
      <p:sp>
        <p:nvSpPr>
          <p:cNvPr id="15" name="Text 12"/>
          <p:cNvSpPr txBox="1"/>
          <p:nvPr/>
        </p:nvSpPr>
        <p:spPr>
          <a:xfrm>
            <a:off x="9180576" y="5596128"/>
            <a:ext cx="2468880" cy="411480"/>
          </a:xfrm>
          <a:prstGeom prst="rect">
            <a:avLst/>
          </a:prstGeom>
          <a:noFill/>
          <a:ln/>
        </p:spPr>
        <p:txBody>
          <a:bodyPr wrap="square" lIns="0" tIns="0" rIns="0" bIns="0" rtlCol="0" anchor="t"/>
          <a:lstStyle/>
          <a:p>
            <a:pPr indent="0" marL="0">
              <a:buNone/>
            </a:pPr>
            <a:r>
              <a:rPr lang="en-US" sz="1100" dirty="0">
                <a:solidFill>
                  <a:schemeClr val="accent4"/>
                </a:solidFill>
              </a:rPr>
              <a:t>not bank-confirmed (P4, P5, P7); all credited under the APM draft</a:t>
            </a:r>
            <a:endParaRPr lang="en-US" sz="1100" dirty="0"/>
          </a:p>
        </p:txBody>
      </p:sp>
      <p:sp>
        <p:nvSpPr>
          <p:cNvPr id="16" name="Text 13"/>
          <p:cNvSpPr txBox="1"/>
          <p:nvPr/>
        </p:nvSpPr>
        <p:spPr>
          <a:xfrm>
            <a:off x="457200" y="6108192"/>
            <a:ext cx="11274552" cy="457200"/>
          </a:xfrm>
          <a:prstGeom prst="rect">
            <a:avLst/>
          </a:prstGeom>
          <a:noFill/>
          <a:ln/>
        </p:spPr>
        <p:txBody>
          <a:bodyPr wrap="square" lIns="0" tIns="0" rIns="0" bIns="0" rtlCol="0" anchor="t"/>
          <a:lstStyle/>
          <a:p>
            <a:pPr indent="0" marL="0">
              <a:buNone/>
            </a:pPr>
            <a:r>
              <a:rPr lang="en-US" sz="1200" b="1" dirty="0">
                <a:solidFill>
                  <a:schemeClr val="accent1"/>
                </a:solidFill>
              </a:rPr>
              <a:t>Preventing wrong balances and duplicate receipts: </a:t>
            </a:r>
            <a:pPr indent="0" marL="0">
              <a:buNone/>
            </a:pPr>
            <a:r>
              <a:rPr lang="en-US" sz="1200" dirty="0">
                <a:solidFill>
                  <a:schemeClr val="tx1"/>
                </a:solidFill>
              </a:rPr>
              <a:t>duplicate UTR rejected (FR-02) · only bank-confirmed credits post (BR1) · balances derived from append-only ledger (FR-23) · one receipt per allocation (FR-24) · maker-checker (BR8) · daily tie-out (FR-28)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Auto-allocation requires a bank-confirmed credit and an ID-grade identifier; all other cases go to review</a:t>
            </a:r>
            <a:endParaRPr lang="en-US" sz="2400" dirty="0"/>
          </a:p>
        </p:txBody>
      </p:sp>
      <p:sp>
        <p:nvSpPr>
          <p:cNvPr id="3" name="Shape 1"/>
          <p:cNvSpPr/>
          <p:nvPr/>
        </p:nvSpPr>
        <p:spPr>
          <a:xfrm>
            <a:off x="457200" y="1280160"/>
            <a:ext cx="4206240" cy="2423160"/>
          </a:xfrm>
          <a:prstGeom prst="roundRect">
            <a:avLst>
              <a:gd name="adj" fmla="val 2264"/>
            </a:avLst>
          </a:prstGeom>
          <a:solidFill>
            <a:schemeClr val="accent6"/>
          </a:solidFill>
          <a:ln w="9525">
            <a:solidFill>
              <a:schemeClr val="accent5"/>
            </a:solidFill>
            <a:prstDash val="solid"/>
          </a:ln>
        </p:spPr>
      </p:sp>
      <p:sp>
        <p:nvSpPr>
          <p:cNvPr id="4" name="Text 2"/>
          <p:cNvSpPr txBox="1"/>
          <p:nvPr/>
        </p:nvSpPr>
        <p:spPr>
          <a:xfrm>
            <a:off x="621792" y="1408176"/>
            <a:ext cx="3877056" cy="292608"/>
          </a:xfrm>
          <a:prstGeom prst="rect">
            <a:avLst/>
          </a:prstGeom>
          <a:noFill/>
          <a:ln/>
        </p:spPr>
        <p:txBody>
          <a:bodyPr wrap="square" lIns="0" tIns="0" rIns="0" bIns="0" rtlCol="0" anchor="t"/>
          <a:lstStyle/>
          <a:p>
            <a:pPr indent="0" marL="0">
              <a:buNone/>
            </a:pPr>
            <a:r>
              <a:rPr lang="en-US" sz="1400" b="1" dirty="0">
                <a:solidFill>
                  <a:schemeClr val="accent1"/>
                </a:solidFill>
              </a:rPr>
              <a:t>Automatic</a:t>
            </a:r>
            <a:endParaRPr lang="en-US" sz="1400" dirty="0"/>
          </a:p>
        </p:txBody>
      </p:sp>
      <p:sp>
        <p:nvSpPr>
          <p:cNvPr id="5" name="Text 3"/>
          <p:cNvSpPr txBox="1"/>
          <p:nvPr/>
        </p:nvSpPr>
        <p:spPr>
          <a:xfrm>
            <a:off x="621792" y="1755648"/>
            <a:ext cx="3877056" cy="185623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Import and duplicate rejection (source + UTR)</a:t>
            </a:r>
            <a:endParaRPr lang="en-US" sz="1250" dirty="0"/>
          </a:p>
          <a:p>
            <a:pPr marL="177800" indent="-177800">
              <a:spcAft>
                <a:spcPts val="500"/>
              </a:spcAft>
              <a:buSzPct val="100000"/>
              <a:buChar char="•"/>
            </a:pPr>
            <a:r>
              <a:rPr lang="en-US" sz="1250" dirty="0">
                <a:solidFill>
                  <a:schemeClr val="tx1"/>
                </a:solidFill>
              </a:rPr>
              <a:t>Allocation: one student ID, virtual account or verified payer; amount ≤ outstanding</a:t>
            </a:r>
            <a:endParaRPr lang="en-US" sz="1250" dirty="0"/>
          </a:p>
          <a:p>
            <a:pPr marL="177800" indent="-177800">
              <a:spcAft>
                <a:spcPts val="500"/>
              </a:spcAft>
              <a:buSzPct val="100000"/>
              <a:buChar char="•"/>
            </a:pPr>
            <a:r>
              <a:rPr lang="en-US" sz="1250" dirty="0">
                <a:solidFill>
                  <a:schemeClr val="tx1"/>
                </a:solidFill>
              </a:rPr>
              <a:t>Reversal linked to original; credit note issued</a:t>
            </a:r>
            <a:endParaRPr lang="en-US" sz="1250" dirty="0"/>
          </a:p>
          <a:p>
            <a:pPr marL="177800" indent="-177800">
              <a:spcAft>
                <a:spcPts val="500"/>
              </a:spcAft>
              <a:buSzPct val="100000"/>
              <a:buChar char="•"/>
            </a:pPr>
            <a:r>
              <a:rPr lang="en-US" sz="1250" dirty="0">
                <a:solidFill>
                  <a:schemeClr val="tx1"/>
                </a:solidFill>
              </a:rPr>
              <a:t>Receipts, SMS sync, notifications, SLA escalation</a:t>
            </a:r>
            <a:endParaRPr lang="en-US" sz="1250" dirty="0"/>
          </a:p>
        </p:txBody>
      </p:sp>
      <p:sp>
        <p:nvSpPr>
          <p:cNvPr id="6" name="Shape 4"/>
          <p:cNvSpPr/>
          <p:nvPr/>
        </p:nvSpPr>
        <p:spPr>
          <a:xfrm>
            <a:off x="457200" y="3840480"/>
            <a:ext cx="4206240" cy="2148840"/>
          </a:xfrm>
          <a:prstGeom prst="roundRect">
            <a:avLst>
              <a:gd name="adj" fmla="val 2553"/>
            </a:avLst>
          </a:prstGeom>
          <a:solidFill>
            <a:schemeClr val="accent6"/>
          </a:solidFill>
          <a:ln w="9525">
            <a:solidFill>
              <a:schemeClr val="accent5"/>
            </a:solidFill>
            <a:prstDash val="solid"/>
          </a:ln>
        </p:spPr>
      </p:sp>
      <p:sp>
        <p:nvSpPr>
          <p:cNvPr id="7" name="Text 5"/>
          <p:cNvSpPr txBox="1"/>
          <p:nvPr/>
        </p:nvSpPr>
        <p:spPr>
          <a:xfrm>
            <a:off x="621792" y="3968496"/>
            <a:ext cx="3877056" cy="292608"/>
          </a:xfrm>
          <a:prstGeom prst="rect">
            <a:avLst/>
          </a:prstGeom>
          <a:noFill/>
          <a:ln/>
        </p:spPr>
        <p:txBody>
          <a:bodyPr wrap="square" lIns="0" tIns="0" rIns="0" bIns="0" rtlCol="0" anchor="t"/>
          <a:lstStyle/>
          <a:p>
            <a:pPr indent="0" marL="0">
              <a:buNone/>
            </a:pPr>
            <a:r>
              <a:rPr lang="en-US" sz="1400" b="1" dirty="0">
                <a:solidFill>
                  <a:schemeClr val="accent3"/>
                </a:solidFill>
              </a:rPr>
              <a:t>Manual review only</a:t>
            </a:r>
            <a:endParaRPr lang="en-US" sz="1400" dirty="0"/>
          </a:p>
        </p:txBody>
      </p:sp>
      <p:sp>
        <p:nvSpPr>
          <p:cNvPr id="8" name="Text 6"/>
          <p:cNvSpPr txBox="1"/>
          <p:nvPr/>
        </p:nvSpPr>
        <p:spPr>
          <a:xfrm>
            <a:off x="621792" y="4315968"/>
            <a:ext cx="3877056" cy="158191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Name, contact or amount matches</a:t>
            </a:r>
            <a:endParaRPr lang="en-US" sz="1250" dirty="0"/>
          </a:p>
          <a:p>
            <a:pPr marL="177800" indent="-177800">
              <a:spcAft>
                <a:spcPts val="500"/>
              </a:spcAft>
              <a:buSzPct val="100000"/>
              <a:buChar char="•"/>
            </a:pPr>
            <a:r>
              <a:rPr lang="en-US" sz="1250" dirty="0">
                <a:solidFill>
                  <a:schemeClr val="tx1"/>
                </a:solidFill>
              </a:rPr>
              <a:t>Splits across students; overpayments</a:t>
            </a:r>
            <a:endParaRPr lang="en-US" sz="1250" dirty="0"/>
          </a:p>
          <a:p>
            <a:pPr marL="177800" indent="-177800">
              <a:spcAft>
                <a:spcPts val="500"/>
              </a:spcAft>
              <a:buSzPct val="100000"/>
              <a:buChar char="•"/>
            </a:pPr>
            <a:r>
              <a:rPr lang="en-US" sz="1250" dirty="0">
                <a:solidFill>
                  <a:schemeClr val="tx1"/>
                </a:solidFill>
              </a:rPr>
              <a:t>Cash, refunds, reallocations</a:t>
            </a:r>
            <a:endParaRPr lang="en-US" sz="1250" dirty="0"/>
          </a:p>
          <a:p>
            <a:pPr marL="177800" indent="-177800">
              <a:spcAft>
                <a:spcPts val="500"/>
              </a:spcAft>
              <a:buSzPct val="100000"/>
              <a:buChar char="•"/>
            </a:pPr>
            <a:r>
              <a:rPr lang="en-US" sz="1250" dirty="0">
                <a:solidFill>
                  <a:schemeClr val="tx1"/>
                </a:solidFill>
              </a:rPr>
              <a:t>Inactive or unregistered students</a:t>
            </a:r>
            <a:endParaRPr lang="en-US" sz="1250" dirty="0"/>
          </a:p>
        </p:txBody>
      </p:sp>
      <p:sp>
        <p:nvSpPr>
          <p:cNvPr id="9" name="Text 7"/>
          <p:cNvSpPr txBox="1"/>
          <p:nvPr/>
        </p:nvSpPr>
        <p:spPr>
          <a:xfrm>
            <a:off x="4892040" y="1298448"/>
            <a:ext cx="6766560" cy="274320"/>
          </a:xfrm>
          <a:prstGeom prst="rect">
            <a:avLst/>
          </a:prstGeom>
          <a:noFill/>
          <a:ln/>
        </p:spPr>
        <p:txBody>
          <a:bodyPr wrap="square" lIns="0" tIns="0" rIns="0" bIns="0" rtlCol="0" anchor="t"/>
          <a:lstStyle/>
          <a:p>
            <a:pPr indent="0" marL="0">
              <a:buNone/>
            </a:pPr>
            <a:r>
              <a:rPr lang="en-US" sz="1400" b="1" dirty="0">
                <a:solidFill>
                  <a:schemeClr val="accent1"/>
                </a:solidFill>
              </a:rPr>
              <a:t>Approval matrix (proposer cannot approve, BR8)</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92040" y="1645920"/>
          <a:ext cx="6839712" cy="914400"/>
        </p:xfrm>
        <a:graphic>
          <a:graphicData uri="http://schemas.openxmlformats.org/drawingml/2006/table">
            <a:tbl>
              <a:tblPr/>
              <a:tblGrid>
                <a:gridCol w="3291840"/>
                <a:gridCol w="1691640"/>
                <a:gridCol w="1856232"/>
              </a:tblGrid>
              <a:tr h="347472">
                <a:tc>
                  <a:txBody>
                    <a:bodyPr/>
                    <a:lstStyle/>
                    <a:p>
                      <a:pPr indent="0" marL="0">
                        <a:buNone/>
                      </a:pPr>
                      <a:r>
                        <a:rPr lang="en-US" sz="1150" b="1" dirty="0">
                          <a:solidFill>
                            <a:schemeClr val="bg1"/>
                          </a:solidFill>
                        </a:rPr>
                        <a:t>Action</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Proposes</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Approves</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r>
              <a:tr h="347472">
                <a:tc>
                  <a:txBody>
                    <a:bodyPr/>
                    <a:lstStyle/>
                    <a:p>
                      <a:pPr indent="0" marL="0">
                        <a:buNone/>
                      </a:pPr>
                      <a:r>
                        <a:rPr lang="en-US" sz="1150" dirty="0">
                          <a:solidFill>
                            <a:schemeClr val="tx1"/>
                          </a:solidFill>
                        </a:rPr>
                        <a:t>Auto-allocation</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System</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Ops lead samples 5% daily</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47472">
                <a:tc>
                  <a:txBody>
                    <a:bodyPr/>
                    <a:lstStyle/>
                    <a:p>
                      <a:pPr indent="0" marL="0">
                        <a:buNone/>
                      </a:pPr>
                      <a:r>
                        <a:rPr lang="en-US" sz="1150" dirty="0">
                          <a:solidFill>
                            <a:schemeClr val="tx1"/>
                          </a:solidFill>
                        </a:rPr>
                        <a:t>High confidence (e.g. claim UTR match), ≤ ₹25,000</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Ops executive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Ops lead</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47472">
                <a:tc>
                  <a:txBody>
                    <a:bodyPr/>
                    <a:lstStyle/>
                    <a:p>
                      <a:pPr indent="0" marL="0">
                        <a:buNone/>
                      </a:pPr>
                      <a:r>
                        <a:rPr lang="en-US" sz="1150" dirty="0">
                          <a:solidFill>
                            <a:schemeClr val="tx1"/>
                          </a:solidFill>
                        </a:rPr>
                        <a:t>Medium / Low confidence, split, &gt; ₹25,000</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Ops executive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Finance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47472">
                <a:tc>
                  <a:txBody>
                    <a:bodyPr/>
                    <a:lstStyle/>
                    <a:p>
                      <a:pPr indent="0" marL="0">
                        <a:buNone/>
                      </a:pPr>
                      <a:r>
                        <a:rPr lang="en-US" sz="1150" dirty="0">
                          <a:solidFill>
                            <a:schemeClr val="tx1"/>
                          </a:solidFill>
                        </a:rPr>
                        <a:t>Cash note → verified</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Counsellor (note)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Finance, against deposit</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47472">
                <a:tc>
                  <a:txBody>
                    <a:bodyPr/>
                    <a:lstStyle/>
                    <a:p>
                      <a:pPr indent="0" marL="0">
                        <a:buNone/>
                      </a:pPr>
                      <a:r>
                        <a:rPr lang="en-US" sz="1150" dirty="0">
                          <a:solidFill>
                            <a:schemeClr val="tx1"/>
                          </a:solidFill>
                        </a:rPr>
                        <a:t>Reallocation of posted payment</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Ops / Finance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Finance (other user)</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47472">
                <a:tc>
                  <a:txBody>
                    <a:bodyPr/>
                    <a:lstStyle/>
                    <a:p>
                      <a:pPr indent="0" marL="0">
                        <a:buNone/>
                      </a:pPr>
                      <a:r>
                        <a:rPr lang="en-US" sz="1150" dirty="0">
                          <a:solidFill>
                            <a:schemeClr val="tx1"/>
                          </a:solidFill>
                        </a:rPr>
                        <a:t>Refund</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Finance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Finance head</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47472">
                <a:tc>
                  <a:txBody>
                    <a:bodyPr/>
                    <a:lstStyle/>
                    <a:p>
                      <a:pPr indent="0" marL="0">
                        <a:buNone/>
                      </a:pPr>
                      <a:r>
                        <a:rPr lang="en-US" sz="1150" dirty="0">
                          <a:solidFill>
                            <a:schemeClr val="tx1"/>
                          </a:solidFill>
                        </a:rPr>
                        <a:t>Parameter or role change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Admin</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Finance head</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47472">
                <a:tc>
                  <a:txBody>
                    <a:bodyPr/>
                    <a:lstStyle/>
                    <a:p>
                      <a:pPr indent="0" marL="0">
                        <a:buNone/>
                      </a:pPr>
                      <a:r>
                        <a:rPr lang="en-US" sz="1150" b="1" dirty="0">
                          <a:solidFill>
                            <a:schemeClr val="accent3"/>
                          </a:solidFill>
                        </a:rPr>
                        <a:t>Balance or ledger edit</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b="1" dirty="0">
                          <a:solidFill>
                            <a:schemeClr val="accent3"/>
                          </a:solidFill>
                        </a:rPr>
                        <a:t>Not available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b="1" dirty="0">
                          <a:solidFill>
                            <a:schemeClr val="accent3"/>
                          </a:solidFill>
                        </a:rPr>
                        <a:t>Not available</a:t>
                      </a:r>
                      <a:endParaRPr lang="en-US" sz="1150" dirty="0"/>
                    </a:p>
                  </a:txBody>
                  <a:tcPr marL="64008" marR="64008"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sp>
        <p:nvSpPr>
          <p:cNvPr id="11" name="Shape 8"/>
          <p:cNvSpPr/>
          <p:nvPr/>
        </p:nvSpPr>
        <p:spPr>
          <a:xfrm>
            <a:off x="4892040" y="4983480"/>
            <a:ext cx="6839712" cy="1005840"/>
          </a:xfrm>
          <a:prstGeom prst="rect">
            <a:avLst/>
          </a:prstGeom>
          <a:solidFill>
            <a:schemeClr val="bg2"/>
          </a:solidFill>
          <a:ln w="6350">
            <a:solidFill>
              <a:schemeClr val="accent5"/>
            </a:solidFill>
            <a:prstDash val="solid"/>
          </a:ln>
        </p:spPr>
      </p:sp>
      <p:sp>
        <p:nvSpPr>
          <p:cNvPr id="12" name="Text 9"/>
          <p:cNvSpPr txBox="1"/>
          <p:nvPr/>
        </p:nvSpPr>
        <p:spPr>
          <a:xfrm>
            <a:off x="5029200" y="5074920"/>
            <a:ext cx="6583680" cy="868680"/>
          </a:xfrm>
          <a:prstGeom prst="rect">
            <a:avLst/>
          </a:prstGeom>
          <a:noFill/>
          <a:ln/>
        </p:spPr>
        <p:txBody>
          <a:bodyPr wrap="square" lIns="0" tIns="0" rIns="0" bIns="0" rtlCol="0" anchor="t"/>
          <a:lstStyle/>
          <a:p>
            <a:pPr indent="0" marL="0">
              <a:buNone/>
            </a:pPr>
            <a:r>
              <a:rPr lang="en-US" sz="1200" b="1" dirty="0">
                <a:solidFill>
                  <a:schemeClr val="accent1"/>
                </a:solidFill>
              </a:rPr>
              <a:t>Rules: </a:t>
            </a:r>
            <a:pPr indent="0" marL="0">
              <a:buNone/>
            </a:pPr>
            <a:r>
              <a:rPr lang="en-US" sz="1200" dirty="0">
                <a:solidFill>
                  <a:schemeClr val="tx1"/>
                </a:solidFill>
              </a:rPr>
              <a:t>fee components paid in due-date order (BR5) · excess held as credit balance (BR6) · suspense SLA 2 working days, Finance decision at 30 days (BR10) · credits for unregistered students re-matched on registration (BR9). Edge cases: Appendix C.</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Phase 1 covers intake, matching, approvals and the ledger; phase 2 targets pre-identified payments</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852160" cy="914400"/>
        </p:xfrm>
        <a:graphic>
          <a:graphicData uri="http://schemas.openxmlformats.org/drawingml/2006/table">
            <a:tbl>
              <a:tblPr/>
              <a:tblGrid>
                <a:gridCol w="1234440"/>
                <a:gridCol w="4617720"/>
              </a:tblGrid>
              <a:tr h="566928">
                <a:tc>
                  <a:txBody>
                    <a:bodyPr/>
                    <a:lstStyle/>
                    <a:p>
                      <a:pPr indent="0" marL="0">
                        <a:buNone/>
                      </a:pPr>
                      <a:r>
                        <a:rPr lang="en-US" sz="1200" b="1" dirty="0">
                          <a:solidFill>
                            <a:schemeClr val="bg1"/>
                          </a:solidFill>
                        </a:rPr>
                        <a:t>User</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Responsibilities in the system</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r>
              <a:tr h="566928">
                <a:tc>
                  <a:txBody>
                    <a:bodyPr/>
                    <a:lstStyle/>
                    <a:p>
                      <a:pPr indent="0" marL="0">
                        <a:buNone/>
                      </a:pPr>
                      <a:r>
                        <a:rPr lang="en-US" sz="1200" b="1" dirty="0">
                          <a:solidFill>
                            <a:srgbClr val="000000"/>
                          </a:solidFill>
                        </a:rPr>
                        <a:t>Student</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Views ledger; submits UTR and screenshot; raises mismatch; downloads receipts</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566928">
                <a:tc>
                  <a:txBody>
                    <a:bodyPr/>
                    <a:lstStyle/>
                    <a:p>
                      <a:pPr indent="0" marL="0">
                        <a:buNone/>
                      </a:pPr>
                      <a:r>
                        <a:rPr lang="en-US" sz="1200" b="1" dirty="0">
                          <a:solidFill>
                            <a:srgbClr val="000000"/>
                          </a:solidFill>
                        </a:rPr>
                        <a:t>Counsellor</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Creates cash notes; submits claims for assigned students. No allocation or approval</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566928">
                <a:tc>
                  <a:txBody>
                    <a:bodyPr/>
                    <a:lstStyle/>
                    <a:p>
                      <a:pPr indent="0" marL="0">
                        <a:buNone/>
                      </a:pPr>
                      <a:r>
                        <a:rPr lang="en-US" sz="1200" b="1" dirty="0">
                          <a:solidFill>
                            <a:srgbClr val="000000"/>
                          </a:solidFill>
                        </a:rPr>
                        <a:t>Operations</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Works suspense queue; proposes allocations; Ops lead approves High-confidence items</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566928">
                <a:tc>
                  <a:txBody>
                    <a:bodyPr/>
                    <a:lstStyle/>
                    <a:p>
                      <a:pPr indent="0" marL="0">
                        <a:buNone/>
                      </a:pPr>
                      <a:r>
                        <a:rPr lang="en-US" sz="1200" b="1" dirty="0">
                          <a:solidFill>
                            <a:srgbClr val="000000"/>
                          </a:solidFill>
                        </a:rPr>
                        <a:t>Finance</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Verifies cash; approves high-risk allocations, reallocations, refunds; daily tie-out</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566928">
                <a:tc>
                  <a:txBody>
                    <a:bodyPr/>
                    <a:lstStyle/>
                    <a:p>
                      <a:pPr indent="0" marL="0">
                        <a:buNone/>
                      </a:pPr>
                      <a:r>
                        <a:rPr lang="en-US" sz="1200" b="1" dirty="0">
                          <a:solidFill>
                            <a:srgbClr val="000000"/>
                          </a:solidFill>
                        </a:rPr>
                        <a:t>Admin</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Users, roles, parameters (with approval); audit export. No ledger access</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sp>
        <p:nvSpPr>
          <p:cNvPr id="4" name="Shape 1"/>
          <p:cNvSpPr/>
          <p:nvPr/>
        </p:nvSpPr>
        <p:spPr>
          <a:xfrm>
            <a:off x="6537960" y="1280160"/>
            <a:ext cx="5193792" cy="1874520"/>
          </a:xfrm>
          <a:prstGeom prst="roundRect">
            <a:avLst>
              <a:gd name="adj" fmla="val 2927"/>
            </a:avLst>
          </a:prstGeom>
          <a:solidFill>
            <a:schemeClr val="accent6"/>
          </a:solidFill>
          <a:ln w="9525">
            <a:solidFill>
              <a:schemeClr val="accent5"/>
            </a:solidFill>
            <a:prstDash val="solid"/>
          </a:ln>
        </p:spPr>
      </p:sp>
      <p:sp>
        <p:nvSpPr>
          <p:cNvPr id="5" name="Text 2"/>
          <p:cNvSpPr txBox="1"/>
          <p:nvPr/>
        </p:nvSpPr>
        <p:spPr>
          <a:xfrm>
            <a:off x="6702552" y="1408176"/>
            <a:ext cx="4864608" cy="292608"/>
          </a:xfrm>
          <a:prstGeom prst="rect">
            <a:avLst/>
          </a:prstGeom>
          <a:noFill/>
          <a:ln/>
        </p:spPr>
        <p:txBody>
          <a:bodyPr wrap="square" lIns="0" tIns="0" rIns="0" bIns="0" rtlCol="0" anchor="t"/>
          <a:lstStyle/>
          <a:p>
            <a:pPr indent="0" marL="0">
              <a:buNone/>
            </a:pPr>
            <a:r>
              <a:rPr lang="en-US" sz="1400" b="1" dirty="0">
                <a:solidFill>
                  <a:schemeClr val="accent1"/>
                </a:solidFill>
              </a:rPr>
              <a:t>Phase 1</a:t>
            </a:r>
            <a:endParaRPr lang="en-US" sz="1400" dirty="0"/>
          </a:p>
        </p:txBody>
      </p:sp>
      <p:sp>
        <p:nvSpPr>
          <p:cNvPr id="6" name="Text 3"/>
          <p:cNvSpPr txBox="1"/>
          <p:nvPr/>
        </p:nvSpPr>
        <p:spPr>
          <a:xfrm>
            <a:off x="6702552" y="1755648"/>
            <a:ext cx="4864608" cy="130759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Feed intake, duplicate rejection, matching rules</a:t>
            </a:r>
            <a:endParaRPr lang="en-US" sz="1200" dirty="0"/>
          </a:p>
          <a:p>
            <a:pPr marL="177800" indent="-177800">
              <a:spcAft>
                <a:spcPts val="300"/>
              </a:spcAft>
              <a:buSzPct val="100000"/>
              <a:buChar char="•"/>
            </a:pPr>
            <a:r>
              <a:rPr lang="en-US" sz="1200" dirty="0">
                <a:solidFill>
                  <a:schemeClr val="tx1"/>
                </a:solidFill>
              </a:rPr>
              <a:t>Claims, cash notes, reversals, refunds, approvals</a:t>
            </a:r>
            <a:endParaRPr lang="en-US" sz="1200" dirty="0"/>
          </a:p>
          <a:p>
            <a:pPr marL="177800" indent="-177800">
              <a:spcAft>
                <a:spcPts val="300"/>
              </a:spcAft>
              <a:buSzPct val="100000"/>
              <a:buChar char="•"/>
            </a:pPr>
            <a:r>
              <a:rPr lang="en-US" sz="1200" dirty="0">
                <a:solidFill>
                  <a:schemeClr val="tx1"/>
                </a:solidFill>
              </a:rPr>
              <a:t>Ledger, receipts, SMS sync, notifications, audit, reports</a:t>
            </a:r>
            <a:endParaRPr lang="en-US" sz="1200" dirty="0"/>
          </a:p>
        </p:txBody>
      </p:sp>
      <p:sp>
        <p:nvSpPr>
          <p:cNvPr id="7" name="Shape 4"/>
          <p:cNvSpPr/>
          <p:nvPr/>
        </p:nvSpPr>
        <p:spPr>
          <a:xfrm>
            <a:off x="6537960" y="3291840"/>
            <a:ext cx="5193792" cy="1417320"/>
          </a:xfrm>
          <a:prstGeom prst="roundRect">
            <a:avLst>
              <a:gd name="adj" fmla="val 3871"/>
            </a:avLst>
          </a:prstGeom>
          <a:solidFill>
            <a:schemeClr val="accent6"/>
          </a:solidFill>
          <a:ln w="9525">
            <a:solidFill>
              <a:schemeClr val="accent5"/>
            </a:solidFill>
            <a:prstDash val="solid"/>
          </a:ln>
        </p:spPr>
      </p:sp>
      <p:sp>
        <p:nvSpPr>
          <p:cNvPr id="8" name="Text 5"/>
          <p:cNvSpPr txBox="1"/>
          <p:nvPr/>
        </p:nvSpPr>
        <p:spPr>
          <a:xfrm>
            <a:off x="6702552" y="3419856"/>
            <a:ext cx="4864608" cy="292608"/>
          </a:xfrm>
          <a:prstGeom prst="rect">
            <a:avLst/>
          </a:prstGeom>
          <a:noFill/>
          <a:ln/>
        </p:spPr>
        <p:txBody>
          <a:bodyPr wrap="square" lIns="0" tIns="0" rIns="0" bIns="0" rtlCol="0" anchor="t"/>
          <a:lstStyle/>
          <a:p>
            <a:pPr indent="0" marL="0">
              <a:buNone/>
            </a:pPr>
            <a:r>
              <a:rPr lang="en-US" sz="1400" b="1" dirty="0">
                <a:solidFill>
                  <a:schemeClr val="accent1"/>
                </a:solidFill>
              </a:rPr>
              <a:t>Phase 2</a:t>
            </a:r>
            <a:endParaRPr lang="en-US" sz="1400" dirty="0"/>
          </a:p>
        </p:txBody>
      </p:sp>
      <p:sp>
        <p:nvSpPr>
          <p:cNvPr id="9" name="Text 6"/>
          <p:cNvSpPr txBox="1"/>
          <p:nvPr/>
        </p:nvSpPr>
        <p:spPr>
          <a:xfrm>
            <a:off x="6702552" y="3767328"/>
            <a:ext cx="4864608" cy="850392"/>
          </a:xfrm>
          <a:prstGeom prst="rect">
            <a:avLst/>
          </a:prstGeom>
          <a:noFill/>
          <a:ln/>
        </p:spPr>
        <p:txBody>
          <a:bodyPr wrap="square" lIns="0" tIns="0" rIns="0" bIns="0" rtlCol="0" anchor="t"/>
          <a:lstStyle/>
          <a:p>
            <a:pPr marL="177800" indent="-177800">
              <a:spcAft>
                <a:spcPts val="300"/>
              </a:spcAft>
              <a:buSzPct val="100000"/>
              <a:buChar char="•"/>
            </a:pPr>
            <a:r>
              <a:rPr lang="en-US" sz="1200" dirty="0">
                <a:solidFill>
                  <a:schemeClr val="tx1"/>
                </a:solidFill>
              </a:rPr>
              <a:t>Per-student virtual account / payment link (founder decision)</a:t>
            </a:r>
            <a:endParaRPr lang="en-US" sz="1200" dirty="0"/>
          </a:p>
          <a:p>
            <a:pPr marL="177800" indent="-177800">
              <a:spcAft>
                <a:spcPts val="300"/>
              </a:spcAft>
              <a:buSzPct val="100000"/>
              <a:buChar char="•"/>
            </a:pPr>
            <a:r>
              <a:rPr lang="en-US" sz="1200" dirty="0">
                <a:solidFill>
                  <a:schemeClr val="tx1"/>
                </a:solidFill>
              </a:rPr>
              <a:t>Screenshot OCR; accounting export; payer self-registration</a:t>
            </a:r>
            <a:endParaRPr lang="en-US" sz="1200" dirty="0"/>
          </a:p>
        </p:txBody>
      </p:sp>
      <p:sp>
        <p:nvSpPr>
          <p:cNvPr id="10" name="Text 7"/>
          <p:cNvSpPr txBox="1"/>
          <p:nvPr/>
        </p:nvSpPr>
        <p:spPr>
          <a:xfrm>
            <a:off x="6537960" y="4846320"/>
            <a:ext cx="5212080" cy="274320"/>
          </a:xfrm>
          <a:prstGeom prst="rect">
            <a:avLst/>
          </a:prstGeom>
          <a:noFill/>
          <a:ln/>
        </p:spPr>
        <p:txBody>
          <a:bodyPr wrap="square" lIns="0" tIns="0" rIns="0" bIns="0" rtlCol="0" anchor="t"/>
          <a:lstStyle/>
          <a:p>
            <a:pPr indent="0" marL="0">
              <a:buNone/>
            </a:pPr>
            <a:r>
              <a:rPr lang="en-US" sz="1300" b="1" dirty="0">
                <a:solidFill>
                  <a:schemeClr val="accent1"/>
                </a:solidFill>
              </a:rPr>
              <a:t>Success metrics (baselines from last term, week 1)</a:t>
            </a:r>
            <a:endParaRPr lang="en-US" sz="1300" dirty="0"/>
          </a:p>
        </p:txBody>
      </p:sp>
      <p:sp>
        <p:nvSpPr>
          <p:cNvPr id="11" name="Text 8"/>
          <p:cNvSpPr txBox="1"/>
          <p:nvPr/>
        </p:nvSpPr>
        <p:spPr>
          <a:xfrm>
            <a:off x="6537960" y="5166360"/>
            <a:ext cx="5212080" cy="114300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Unverified credits: 0 · duplicate receipts: 0</a:t>
            </a:r>
            <a:endParaRPr lang="en-US" sz="1200" dirty="0"/>
          </a:p>
          <a:p>
            <a:pPr marL="177800" indent="-177800">
              <a:spcAft>
                <a:spcPts val="200"/>
              </a:spcAft>
              <a:buSzPct val="100000"/>
              <a:buChar char="•"/>
            </a:pPr>
            <a:r>
              <a:rPr lang="en-US" sz="1200" dirty="0">
                <a:solidFill>
                  <a:schemeClr val="tx1"/>
                </a:solidFill>
              </a:rPr>
              <a:t>Auto-allocation rate ≥ 60% of bank credits</a:t>
            </a:r>
            <a:endParaRPr lang="en-US" sz="1200" dirty="0"/>
          </a:p>
          <a:p>
            <a:pPr marL="177800" indent="-177800">
              <a:spcAft>
                <a:spcPts val="200"/>
              </a:spcAft>
              <a:buSzPct val="100000"/>
              <a:buChar char="•"/>
            </a:pPr>
            <a:r>
              <a:rPr lang="en-US" sz="1200" dirty="0">
                <a:solidFill>
                  <a:schemeClr val="tx1"/>
                </a:solidFill>
              </a:rPr>
              <a:t>≥ 90% of suspense items resolved within 2 working days</a:t>
            </a:r>
            <a:endParaRPr lang="en-US" sz="1200" dirty="0"/>
          </a:p>
          <a:p>
            <a:pPr marL="177800" indent="-177800">
              <a:spcAft>
                <a:spcPts val="200"/>
              </a:spcAft>
              <a:buSzPct val="100000"/>
              <a:buChar char="•"/>
            </a:pPr>
            <a:r>
              <a:rPr lang="en-US" sz="1200" dirty="0">
                <a:solidFill>
                  <a:schemeClr val="tx1"/>
                </a:solidFill>
              </a:rPr>
              <a:t>Import-to-receipt ≤ 1 hour (P90) · mismatch tickets −50%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Screen 1: the unmatched payment dashboard ranks suspense items by amount and age and lists missing evidence</a:t>
            </a:r>
            <a:endParaRPr lang="en-US" sz="2400" dirty="0"/>
          </a:p>
        </p:txBody>
      </p:sp>
      <p:pic>
        <p:nvPicPr>
          <p:cNvPr id="3" name="Image 0" descr="Wireframe: Unmatched Payment Dashboard">    </p:cNvPr>
          <p:cNvPicPr>
            <a:picLocks noChangeAspect="1"/>
          </p:cNvPicPr>
          <p:nvPr/>
        </p:nvPicPr>
        <p:blipFill>
          <a:blip r:embed="rId1"/>
          <a:stretch>
            <a:fillRect/>
          </a:stretch>
        </p:blipFill>
        <p:spPr>
          <a:xfrm>
            <a:off x="457200" y="1234440"/>
            <a:ext cx="8768760" cy="5074920"/>
          </a:xfrm>
          <a:prstGeom prst="rect">
            <a:avLst/>
          </a:prstGeom>
        </p:spPr>
      </p:pic>
      <p:sp>
        <p:nvSpPr>
          <p:cNvPr id="4" name="Text 1"/>
          <p:cNvSpPr txBox="1"/>
          <p:nvPr/>
        </p:nvSpPr>
        <p:spPr>
          <a:xfrm>
            <a:off x="9500280" y="1371600"/>
            <a:ext cx="2231472" cy="475488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Tiles show amounts (₹) by status</a:t>
            </a:r>
            <a:endParaRPr lang="en-US" sz="1300" dirty="0"/>
          </a:p>
          <a:p>
            <a:pPr marL="177800" indent="-177800">
              <a:spcAft>
                <a:spcPts val="1000"/>
              </a:spcAft>
              <a:buSzPct val="100000"/>
              <a:buChar char="•"/>
            </a:pPr>
            <a:r>
              <a:rPr lang="en-US" sz="1300" dirty="0">
                <a:solidFill>
                  <a:schemeClr val="tx1"/>
                </a:solidFill>
              </a:rPr>
              <a:t>Evidence status on every row</a:t>
            </a:r>
            <a:endParaRPr lang="en-US" sz="1300" dirty="0"/>
          </a:p>
          <a:p>
            <a:pPr marL="177800" indent="-177800">
              <a:spcAft>
                <a:spcPts val="1000"/>
              </a:spcAft>
              <a:buSzPct val="100000"/>
              <a:buChar char="•"/>
            </a:pPr>
            <a:r>
              <a:rPr lang="en-US" sz="1300" dirty="0">
                <a:solidFill>
                  <a:schemeClr val="tx1"/>
                </a:solidFill>
              </a:rPr>
              <a:t>Suggestions show reasons and confidence; no auto-apply</a:t>
            </a:r>
            <a:endParaRPr lang="en-US" sz="1300" dirty="0"/>
          </a:p>
          <a:p>
            <a:pPr marL="177800" indent="-177800">
              <a:spcAft>
                <a:spcPts val="1000"/>
              </a:spcAft>
              <a:buSzPct val="100000"/>
              <a:buChar char="•"/>
            </a:pPr>
            <a:r>
              <a:rPr lang="en-US" sz="1300" dirty="0">
                <a:solidFill>
                  <a:schemeClr val="tx1"/>
                </a:solidFill>
              </a:rPr>
              <a:t>"Missing to conclude" column per item</a:t>
            </a:r>
            <a:endParaRPr lang="en-US" sz="1300" dirty="0"/>
          </a:p>
          <a:p>
            <a:pPr marL="177800" indent="-177800">
              <a:spcAft>
                <a:spcPts val="1000"/>
              </a:spcAft>
              <a:buSzPct val="100000"/>
              <a:buChar char="•"/>
            </a:pPr>
            <a:r>
              <a:rPr lang="en-US" sz="1300" dirty="0">
                <a:solidFill>
                  <a:schemeClr val="tx1"/>
                </a:solidFill>
              </a:rPr>
              <a:t>Role-based actions; no bulk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Screens 2 and 3: the fee ledger and reconciliation detail link each entry to a bank record and audit history</a:t>
            </a:r>
            <a:endParaRPr lang="en-US" sz="2400" dirty="0"/>
          </a:p>
        </p:txBody>
      </p:sp>
      <p:pic>
        <p:nvPicPr>
          <p:cNvPr id="3" name="Image 0" descr="Wireframe: Student Fee Ledger">    </p:cNvPr>
          <p:cNvPicPr>
            <a:picLocks noChangeAspect="1"/>
          </p:cNvPicPr>
          <p:nvPr/>
        </p:nvPicPr>
        <p:blipFill>
          <a:blip r:embed="rId1"/>
          <a:stretch>
            <a:fillRect/>
          </a:stretch>
        </p:blipFill>
        <p:spPr>
          <a:xfrm>
            <a:off x="457200" y="1280160"/>
            <a:ext cx="5532120" cy="3232833"/>
          </a:xfrm>
          <a:prstGeom prst="rect">
            <a:avLst/>
          </a:prstGeom>
        </p:spPr>
      </p:pic>
      <p:pic>
        <p:nvPicPr>
          <p:cNvPr id="4" name="Image 1" descr="Wireframe: Payment Reconciliation Detail">    </p:cNvPr>
          <p:cNvPicPr>
            <a:picLocks noChangeAspect="1"/>
          </p:cNvPicPr>
          <p:nvPr/>
        </p:nvPicPr>
        <p:blipFill>
          <a:blip r:embed="rId2"/>
          <a:stretch>
            <a:fillRect/>
          </a:stretch>
        </p:blipFill>
        <p:spPr>
          <a:xfrm>
            <a:off x="6199632" y="1280160"/>
            <a:ext cx="5532120" cy="3257036"/>
          </a:xfrm>
          <a:prstGeom prst="rect">
            <a:avLst/>
          </a:prstGeom>
        </p:spPr>
      </p:pic>
      <p:sp>
        <p:nvSpPr>
          <p:cNvPr id="5" name="Text 1"/>
          <p:cNvSpPr txBox="1"/>
          <p:nvPr/>
        </p:nvSpPr>
        <p:spPr>
          <a:xfrm>
            <a:off x="457200" y="4709160"/>
            <a:ext cx="5532120" cy="822960"/>
          </a:xfrm>
          <a:prstGeom prst="rect">
            <a:avLst/>
          </a:prstGeom>
          <a:noFill/>
          <a:ln/>
        </p:spPr>
        <p:txBody>
          <a:bodyPr wrap="square" lIns="0" tIns="0" rIns="0" bIns="0" rtlCol="0" anchor="t"/>
          <a:lstStyle/>
          <a:p>
            <a:pPr indent="0" marL="0">
              <a:buNone/>
            </a:pPr>
            <a:r>
              <a:rPr lang="en-US" sz="1200" b="1" dirty="0">
                <a:solidFill>
                  <a:schemeClr val="accent1"/>
                </a:solidFill>
              </a:rPr>
              <a:t>Student Fee Ledger (S103). </a:t>
            </a:r>
            <a:pPr indent="0" marL="0">
              <a:buNone/>
            </a:pPr>
            <a:r>
              <a:rPr lang="en-US" sz="1200" dirty="0">
                <a:solidFill>
                  <a:schemeClr val="tx1"/>
                </a:solidFill>
              </a:rPr>
              <a:t>Balance derived from entries; pending claim excluded from totals; reversal posted with its own credit note.</a:t>
            </a:r>
            <a:endParaRPr lang="en-US" sz="1200" dirty="0"/>
          </a:p>
        </p:txBody>
      </p:sp>
      <p:sp>
        <p:nvSpPr>
          <p:cNvPr id="6" name="Text 2"/>
          <p:cNvSpPr txBox="1"/>
          <p:nvPr/>
        </p:nvSpPr>
        <p:spPr>
          <a:xfrm>
            <a:off x="6199632" y="4754880"/>
            <a:ext cx="5532120" cy="822960"/>
          </a:xfrm>
          <a:prstGeom prst="rect">
            <a:avLst/>
          </a:prstGeom>
          <a:noFill/>
          <a:ln/>
        </p:spPr>
        <p:txBody>
          <a:bodyPr wrap="square" lIns="0" tIns="0" rIns="0" bIns="0" rtlCol="0" anchor="t"/>
          <a:lstStyle/>
          <a:p>
            <a:pPr indent="0" marL="0">
              <a:buNone/>
            </a:pPr>
            <a:r>
              <a:rPr lang="en-US" sz="1200" b="1" dirty="0">
                <a:solidFill>
                  <a:schemeClr val="accent1"/>
                </a:solidFill>
              </a:rPr>
              <a:t>Reconciliation Detail (P2). </a:t>
            </a:r>
            <a:pPr indent="0" marL="0">
              <a:buNone/>
            </a:pPr>
            <a:r>
              <a:rPr lang="en-US" sz="1200" dirty="0">
                <a:solidFill>
                  <a:schemeClr val="tx1"/>
                </a:solidFill>
              </a:rPr>
              <a:t>Bank record read-only; evidence checklist; "Propose" disabled until complete; approval path shown; audit history.</a:t>
            </a:r>
            <a:endParaRPr lang="en-US" sz="1200" dirty="0"/>
          </a:p>
        </p:txBody>
      </p:sp>
      <p:sp>
        <p:nvSpPr>
          <p:cNvPr id="7" name="Text 3"/>
          <p:cNvSpPr txBox="1"/>
          <p:nvPr/>
        </p:nvSpPr>
        <p:spPr>
          <a:xfrm>
            <a:off x="457200" y="5989320"/>
            <a:ext cx="11247120" cy="274320"/>
          </a:xfrm>
          <a:prstGeom prst="rect">
            <a:avLst/>
          </a:prstGeom>
          <a:noFill/>
          <a:ln/>
        </p:spPr>
        <p:txBody>
          <a:bodyPr wrap="square" lIns="0" tIns="0" rIns="0" bIns="0" rtlCol="0" anchor="t"/>
          <a:lstStyle/>
          <a:p>
            <a:pPr indent="0" marL="0">
              <a:buNone/>
            </a:pPr>
            <a:r>
              <a:rPr lang="en-US" sz="1100" dirty="0">
                <a:solidFill>
                  <a:schemeClr val="accent4"/>
                </a:solidFill>
              </a:rPr>
              <a:t>Full-size wireframes: 3_Wireframes folder and PRD section 12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Engineering handoff: five open questions; release gated on 14 acceptance criteria and a 2-week parallel run</a:t>
            </a:r>
            <a:endParaRPr lang="en-US" sz="2400" dirty="0"/>
          </a:p>
        </p:txBody>
      </p:sp>
      <p:sp>
        <p:nvSpPr>
          <p:cNvPr id="3" name="Shape 1"/>
          <p:cNvSpPr/>
          <p:nvPr/>
        </p:nvSpPr>
        <p:spPr>
          <a:xfrm>
            <a:off x="457200" y="1280160"/>
            <a:ext cx="3977640" cy="4937760"/>
          </a:xfrm>
          <a:prstGeom prst="roundRect">
            <a:avLst>
              <a:gd name="adj" fmla="val 1379"/>
            </a:avLst>
          </a:prstGeom>
          <a:solidFill>
            <a:schemeClr val="accent6"/>
          </a:solidFill>
          <a:ln w="9525">
            <a:solidFill>
              <a:schemeClr val="accent5"/>
            </a:solidFill>
            <a:prstDash val="solid"/>
          </a:ln>
        </p:spPr>
      </p:sp>
      <p:sp>
        <p:nvSpPr>
          <p:cNvPr id="4" name="Text 2"/>
          <p:cNvSpPr txBox="1"/>
          <p:nvPr/>
        </p:nvSpPr>
        <p:spPr>
          <a:xfrm>
            <a:off x="621792" y="1408176"/>
            <a:ext cx="3648456" cy="292608"/>
          </a:xfrm>
          <a:prstGeom prst="rect">
            <a:avLst/>
          </a:prstGeom>
          <a:noFill/>
          <a:ln/>
        </p:spPr>
        <p:txBody>
          <a:bodyPr wrap="square" lIns="0" tIns="0" rIns="0" bIns="0" rtlCol="0" anchor="t"/>
          <a:lstStyle/>
          <a:p>
            <a:pPr indent="0" marL="0">
              <a:buNone/>
            </a:pPr>
            <a:r>
              <a:rPr lang="en-US" sz="1400" b="1" dirty="0">
                <a:solidFill>
                  <a:schemeClr val="accent1"/>
                </a:solidFill>
              </a:rPr>
              <a:t>Questions for engineering</a:t>
            </a:r>
            <a:endParaRPr lang="en-US" sz="1400" dirty="0"/>
          </a:p>
        </p:txBody>
      </p:sp>
      <p:sp>
        <p:nvSpPr>
          <p:cNvPr id="5" name="Text 3"/>
          <p:cNvSpPr txBox="1"/>
          <p:nvPr/>
        </p:nvSpPr>
        <p:spPr>
          <a:xfrm>
            <a:off x="621792" y="1755648"/>
            <a:ext cx="3648456" cy="4370832"/>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Q1 Which feeds are available, how often, and which fields (UTR, payer account, narration) are reliable?</a:t>
            </a:r>
            <a:endParaRPr lang="en-US" sz="1350" dirty="0"/>
          </a:p>
          <a:p>
            <a:pPr marL="177800" indent="-177800">
              <a:spcAft>
                <a:spcPts val="700"/>
              </a:spcAft>
              <a:buSzPct val="100000"/>
              <a:buChar char="•"/>
            </a:pPr>
            <a:r>
              <a:rPr lang="en-US" sz="1350" dirty="0">
                <a:solidFill>
                  <a:schemeClr val="tx1"/>
                </a:solidFill>
              </a:rPr>
              <a:t>Q2 Can the SMS accept balance updates by API and lock manual balance edits?</a:t>
            </a:r>
            <a:endParaRPr lang="en-US" sz="1350" dirty="0"/>
          </a:p>
          <a:p>
            <a:pPr marL="177800" indent="-177800">
              <a:spcAft>
                <a:spcPts val="700"/>
              </a:spcAft>
              <a:buSzPct val="100000"/>
              <a:buChar char="•"/>
            </a:pPr>
            <a:r>
              <a:rPr lang="en-US" sz="1350" dirty="0">
                <a:solidFill>
                  <a:schemeClr val="tx1"/>
                </a:solidFill>
              </a:rPr>
              <a:t>Q3 How is one payment in both gateway and bank feeds recognised as one?</a:t>
            </a:r>
            <a:endParaRPr lang="en-US" sz="1350" dirty="0"/>
          </a:p>
          <a:p>
            <a:pPr marL="177800" indent="-177800">
              <a:spcAft>
                <a:spcPts val="700"/>
              </a:spcAft>
              <a:buSzPct val="100000"/>
              <a:buChar char="•"/>
            </a:pPr>
            <a:r>
              <a:rPr lang="en-US" sz="1350" dirty="0">
                <a:solidFill>
                  <a:schemeClr val="tx1"/>
                </a:solidFill>
              </a:rPr>
              <a:t>Q4 Can fee components and due dates be read per student?</a:t>
            </a:r>
            <a:endParaRPr lang="en-US" sz="1350" dirty="0"/>
          </a:p>
          <a:p>
            <a:pPr marL="177800" indent="-177800">
              <a:spcAft>
                <a:spcPts val="700"/>
              </a:spcAft>
              <a:buSzPct val="100000"/>
              <a:buChar char="•"/>
            </a:pPr>
            <a:r>
              <a:rPr lang="en-US" sz="1350" dirty="0">
                <a:solidFill>
                  <a:schemeClr val="tx1"/>
                </a:solidFill>
              </a:rPr>
              <a:t>Q5 How are ledger and audit records protected from edits, and receipt numbers kept sequential?</a:t>
            </a:r>
            <a:endParaRPr lang="en-US" sz="1350" dirty="0"/>
          </a:p>
        </p:txBody>
      </p:sp>
      <p:sp>
        <p:nvSpPr>
          <p:cNvPr id="6" name="Shape 4"/>
          <p:cNvSpPr/>
          <p:nvPr/>
        </p:nvSpPr>
        <p:spPr>
          <a:xfrm>
            <a:off x="4617720" y="1280160"/>
            <a:ext cx="3566160" cy="4937760"/>
          </a:xfrm>
          <a:prstGeom prst="roundRect">
            <a:avLst>
              <a:gd name="adj" fmla="val 1538"/>
            </a:avLst>
          </a:prstGeom>
          <a:solidFill>
            <a:schemeClr val="accent6"/>
          </a:solidFill>
          <a:ln w="9525">
            <a:solidFill>
              <a:schemeClr val="accent5"/>
            </a:solidFill>
            <a:prstDash val="solid"/>
          </a:ln>
        </p:spPr>
      </p:sp>
      <p:sp>
        <p:nvSpPr>
          <p:cNvPr id="7" name="Text 5"/>
          <p:cNvSpPr txBox="1"/>
          <p:nvPr/>
        </p:nvSpPr>
        <p:spPr>
          <a:xfrm>
            <a:off x="4782312" y="1408176"/>
            <a:ext cx="3236976" cy="292608"/>
          </a:xfrm>
          <a:prstGeom prst="rect">
            <a:avLst/>
          </a:prstGeom>
          <a:noFill/>
          <a:ln/>
        </p:spPr>
        <p:txBody>
          <a:bodyPr wrap="square" lIns="0" tIns="0" rIns="0" bIns="0" rtlCol="0" anchor="t"/>
          <a:lstStyle/>
          <a:p>
            <a:pPr indent="0" marL="0">
              <a:buNone/>
            </a:pPr>
            <a:r>
              <a:rPr lang="en-US" sz="1400" b="1" dirty="0">
                <a:solidFill>
                  <a:schemeClr val="accent1"/>
                </a:solidFill>
              </a:rPr>
              <a:t>Dependencies</a:t>
            </a:r>
            <a:endParaRPr lang="en-US" sz="1400" dirty="0"/>
          </a:p>
        </p:txBody>
      </p:sp>
      <p:sp>
        <p:nvSpPr>
          <p:cNvPr id="8" name="Text 6"/>
          <p:cNvSpPr txBox="1"/>
          <p:nvPr/>
        </p:nvSpPr>
        <p:spPr>
          <a:xfrm>
            <a:off x="4782312" y="1755648"/>
            <a:ext cx="3236976" cy="4370832"/>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Bank / gateway feed access (Finance); fallback: statement file</a:t>
            </a:r>
            <a:endParaRPr lang="en-US" sz="1350" dirty="0"/>
          </a:p>
          <a:p>
            <a:pPr marL="177800" indent="-177800">
              <a:spcAft>
                <a:spcPts val="700"/>
              </a:spcAft>
              <a:buSzPct val="100000"/>
              <a:buChar char="•"/>
            </a:pPr>
            <a:r>
              <a:rPr lang="en-US" sz="1350" dirty="0">
                <a:solidFill>
                  <a:schemeClr val="tx1"/>
                </a:solidFill>
              </a:rPr>
              <a:t>SMS API (engineering / vendor)</a:t>
            </a:r>
            <a:endParaRPr lang="en-US" sz="1350" dirty="0"/>
          </a:p>
          <a:p>
            <a:pPr marL="177800" indent="-177800">
              <a:spcAft>
                <a:spcPts val="700"/>
              </a:spcAft>
              <a:buSzPct val="100000"/>
              <a:buChar char="•"/>
            </a:pPr>
            <a:r>
              <a:rPr lang="en-US" sz="1350" dirty="0">
                <a:solidFill>
                  <a:schemeClr val="tx1"/>
                </a:solidFill>
              </a:rPr>
              <a:t>Opening balances tied out (Finance)</a:t>
            </a:r>
            <a:endParaRPr lang="en-US" sz="1350" dirty="0"/>
          </a:p>
          <a:p>
            <a:pPr marL="177800" indent="-177800">
              <a:spcAft>
                <a:spcPts val="700"/>
              </a:spcAft>
              <a:buSzPct val="100000"/>
              <a:buChar char="•"/>
            </a:pPr>
            <a:r>
              <a:rPr lang="en-US" sz="1350" dirty="0">
                <a:solidFill>
                  <a:schemeClr val="tx1"/>
                </a:solidFill>
              </a:rPr>
              <a:t>Notification templates (APM, Ops)</a:t>
            </a:r>
            <a:endParaRPr lang="en-US" sz="1350" dirty="0"/>
          </a:p>
          <a:p>
            <a:pPr marL="177800" indent="-177800">
              <a:spcAft>
                <a:spcPts val="700"/>
              </a:spcAft>
              <a:buSzPct val="100000"/>
              <a:buChar char="•"/>
            </a:pPr>
            <a:r>
              <a:rPr lang="en-US" sz="1350" dirty="0">
                <a:solidFill>
                  <a:schemeClr val="tx1"/>
                </a:solidFill>
              </a:rPr>
              <a:t>Parameter sign-off (Finance head, 29 Oct)</a:t>
            </a:r>
            <a:endParaRPr lang="en-US" sz="1350" dirty="0"/>
          </a:p>
        </p:txBody>
      </p:sp>
      <p:sp>
        <p:nvSpPr>
          <p:cNvPr id="9" name="Shape 7"/>
          <p:cNvSpPr/>
          <p:nvPr/>
        </p:nvSpPr>
        <p:spPr>
          <a:xfrm>
            <a:off x="8366760" y="1280160"/>
            <a:ext cx="3364992" cy="4937760"/>
          </a:xfrm>
          <a:prstGeom prst="roundRect">
            <a:avLst>
              <a:gd name="adj" fmla="val 1630"/>
            </a:avLst>
          </a:prstGeom>
          <a:solidFill>
            <a:schemeClr val="accent6"/>
          </a:solidFill>
          <a:ln w="9525">
            <a:solidFill>
              <a:schemeClr val="accent5"/>
            </a:solidFill>
            <a:prstDash val="solid"/>
          </a:ln>
        </p:spPr>
      </p:sp>
      <p:sp>
        <p:nvSpPr>
          <p:cNvPr id="10" name="Text 8"/>
          <p:cNvSpPr txBox="1"/>
          <p:nvPr/>
        </p:nvSpPr>
        <p:spPr>
          <a:xfrm>
            <a:off x="8531352" y="1408176"/>
            <a:ext cx="3035808" cy="292608"/>
          </a:xfrm>
          <a:prstGeom prst="rect">
            <a:avLst/>
          </a:prstGeom>
          <a:noFill/>
          <a:ln/>
        </p:spPr>
        <p:txBody>
          <a:bodyPr wrap="square" lIns="0" tIns="0" rIns="0" bIns="0" rtlCol="0" anchor="t"/>
          <a:lstStyle/>
          <a:p>
            <a:pPr indent="0" marL="0">
              <a:buNone/>
            </a:pPr>
            <a:r>
              <a:rPr lang="en-US" sz="1400" b="1" dirty="0">
                <a:solidFill>
                  <a:schemeClr val="accent1"/>
                </a:solidFill>
              </a:rPr>
              <a:t>Release criteria</a:t>
            </a:r>
            <a:endParaRPr lang="en-US" sz="1400" dirty="0"/>
          </a:p>
        </p:txBody>
      </p:sp>
      <p:sp>
        <p:nvSpPr>
          <p:cNvPr id="11" name="Text 9"/>
          <p:cNvSpPr txBox="1"/>
          <p:nvPr/>
        </p:nvSpPr>
        <p:spPr>
          <a:xfrm>
            <a:off x="8531352" y="1755648"/>
            <a:ext cx="3035808" cy="4370832"/>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tx1"/>
                </a:solidFill>
              </a:rPr>
              <a:t>All High-priority requirements built</a:t>
            </a:r>
            <a:endParaRPr lang="en-US" sz="1350" dirty="0"/>
          </a:p>
          <a:p>
            <a:pPr marL="177800" indent="-177800">
              <a:spcAft>
                <a:spcPts val="700"/>
              </a:spcAft>
              <a:buSzPct val="100000"/>
              <a:buChar char="•"/>
            </a:pPr>
            <a:r>
              <a:rPr lang="en-US" sz="1350" dirty="0">
                <a:solidFill>
                  <a:schemeClr val="tx1"/>
                </a:solidFill>
              </a:rPr>
              <a:t>AC1–AC14 and 12 test scenarios pass, including T-SAMPLE</a:t>
            </a:r>
            <a:endParaRPr lang="en-US" sz="1350" dirty="0"/>
          </a:p>
          <a:p>
            <a:pPr marL="177800" indent="-177800">
              <a:spcAft>
                <a:spcPts val="700"/>
              </a:spcAft>
              <a:buSzPct val="100000"/>
              <a:buChar char="•"/>
            </a:pPr>
            <a:r>
              <a:rPr lang="en-US" sz="1350" dirty="0">
                <a:solidFill>
                  <a:schemeClr val="tx1"/>
                </a:solidFill>
              </a:rPr>
              <a:t>Parallel run: no unexplained difference</a:t>
            </a:r>
            <a:endParaRPr lang="en-US" sz="1350" dirty="0"/>
          </a:p>
          <a:p>
            <a:pPr marL="177800" indent="-177800">
              <a:spcAft>
                <a:spcPts val="700"/>
              </a:spcAft>
              <a:buSzPct val="100000"/>
              <a:buChar char="•"/>
            </a:pPr>
            <a:r>
              <a:rPr lang="en-US" sz="1350" dirty="0">
                <a:solidFill>
                  <a:schemeClr val="tx1"/>
                </a:solidFill>
              </a:rPr>
              <a:t>Permission tests pass for every role</a:t>
            </a:r>
            <a:endParaRPr lang="en-US" sz="1350" dirty="0"/>
          </a:p>
          <a:p>
            <a:pPr marL="177800" indent="-177800">
              <a:spcAft>
                <a:spcPts val="700"/>
              </a:spcAft>
              <a:buSzPct val="100000"/>
              <a:buChar char="•"/>
            </a:pPr>
            <a:r>
              <a:rPr lang="en-US" sz="1350" dirty="0">
                <a:solidFill>
                  <a:schemeClr val="tx1"/>
                </a:solidFill>
              </a:rPr>
              <a:t>Training, runbook, rollback plan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APM feedback: five corrections, four tasks returned, three decisions kept by the PM</a:t>
            </a:r>
            <a:endParaRPr lang="en-US" sz="2400" dirty="0"/>
          </a:p>
        </p:txBody>
      </p:sp>
      <p:sp>
        <p:nvSpPr>
          <p:cNvPr id="3" name="Shape 1"/>
          <p:cNvSpPr/>
          <p:nvPr/>
        </p:nvSpPr>
        <p:spPr>
          <a:xfrm>
            <a:off x="457200" y="1280160"/>
            <a:ext cx="2743200" cy="2331720"/>
          </a:xfrm>
          <a:prstGeom prst="roundRect">
            <a:avLst>
              <a:gd name="adj" fmla="val 2353"/>
            </a:avLst>
          </a:prstGeom>
          <a:solidFill>
            <a:schemeClr val="accent6"/>
          </a:solidFill>
          <a:ln w="9525">
            <a:solidFill>
              <a:schemeClr val="accent5"/>
            </a:solidFill>
            <a:prstDash val="solid"/>
          </a:ln>
        </p:spPr>
      </p:sp>
      <p:sp>
        <p:nvSpPr>
          <p:cNvPr id="4" name="Text 2"/>
          <p:cNvSpPr txBox="1"/>
          <p:nvPr/>
        </p:nvSpPr>
        <p:spPr>
          <a:xfrm>
            <a:off x="621792" y="1408176"/>
            <a:ext cx="2414016" cy="292608"/>
          </a:xfrm>
          <a:prstGeom prst="rect">
            <a:avLst/>
          </a:prstGeom>
          <a:noFill/>
          <a:ln/>
        </p:spPr>
        <p:txBody>
          <a:bodyPr wrap="square" lIns="0" tIns="0" rIns="0" bIns="0" rtlCol="0" anchor="t"/>
          <a:lstStyle/>
          <a:p>
            <a:pPr indent="0" marL="0">
              <a:buNone/>
            </a:pPr>
            <a:r>
              <a:rPr lang="en-US" sz="1400" b="1" dirty="0">
                <a:solidFill>
                  <a:schemeClr val="accent1"/>
                </a:solidFill>
              </a:rPr>
              <a:t>Strengths</a:t>
            </a:r>
            <a:endParaRPr lang="en-US" sz="1400" dirty="0"/>
          </a:p>
        </p:txBody>
      </p:sp>
      <p:sp>
        <p:nvSpPr>
          <p:cNvPr id="5" name="Text 3"/>
          <p:cNvSpPr txBox="1"/>
          <p:nvPr/>
        </p:nvSpPr>
        <p:spPr>
          <a:xfrm>
            <a:off x="621792" y="1755648"/>
            <a:ext cx="2414016" cy="176479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Correct problem selection</a:t>
            </a:r>
            <a:endParaRPr lang="en-US" sz="1350" dirty="0"/>
          </a:p>
          <a:p>
            <a:pPr marL="177800" indent="-177800">
              <a:spcAft>
                <a:spcPts val="500"/>
              </a:spcAft>
              <a:buSzPct val="100000"/>
              <a:buChar char="•"/>
            </a:pPr>
            <a:r>
              <a:rPr lang="en-US" sz="1350" dirty="0">
                <a:solidFill>
                  <a:schemeClr val="tx1"/>
                </a:solidFill>
              </a:rPr>
              <a:t>Covered cash and manual fallback</a:t>
            </a:r>
            <a:endParaRPr lang="en-US" sz="1350" dirty="0"/>
          </a:p>
          <a:p>
            <a:pPr marL="177800" indent="-177800">
              <a:spcAft>
                <a:spcPts val="500"/>
              </a:spcAft>
              <a:buSzPct val="100000"/>
              <a:buChar char="•"/>
            </a:pPr>
            <a:r>
              <a:rPr lang="en-US" sz="1350" dirty="0">
                <a:solidFill>
                  <a:schemeClr val="tx1"/>
                </a:solidFill>
              </a:rPr>
              <a:t>Included student self-service and receipts</a:t>
            </a:r>
            <a:endParaRPr lang="en-US" sz="1350" dirty="0"/>
          </a:p>
        </p:txBody>
      </p:sp>
      <p:sp>
        <p:nvSpPr>
          <p:cNvPr id="6" name="Shape 4"/>
          <p:cNvSpPr/>
          <p:nvPr/>
        </p:nvSpPr>
        <p:spPr>
          <a:xfrm>
            <a:off x="3383280" y="1280160"/>
            <a:ext cx="4572000" cy="2331720"/>
          </a:xfrm>
          <a:prstGeom prst="roundRect">
            <a:avLst>
              <a:gd name="adj" fmla="val 2353"/>
            </a:avLst>
          </a:prstGeom>
          <a:solidFill>
            <a:schemeClr val="accent6"/>
          </a:solidFill>
          <a:ln w="9525">
            <a:solidFill>
              <a:schemeClr val="accent5"/>
            </a:solidFill>
            <a:prstDash val="solid"/>
          </a:ln>
        </p:spPr>
      </p:sp>
      <p:sp>
        <p:nvSpPr>
          <p:cNvPr id="7" name="Text 5"/>
          <p:cNvSpPr txBox="1"/>
          <p:nvPr/>
        </p:nvSpPr>
        <p:spPr>
          <a:xfrm>
            <a:off x="3547872" y="1408176"/>
            <a:ext cx="4242816" cy="292608"/>
          </a:xfrm>
          <a:prstGeom prst="rect">
            <a:avLst/>
          </a:prstGeom>
          <a:noFill/>
          <a:ln/>
        </p:spPr>
        <p:txBody>
          <a:bodyPr wrap="square" lIns="0" tIns="0" rIns="0" bIns="0" rtlCol="0" anchor="t"/>
          <a:lstStyle/>
          <a:p>
            <a:pPr indent="0" marL="0">
              <a:buNone/>
            </a:pPr>
            <a:r>
              <a:rPr lang="en-US" sz="1400" b="1" dirty="0">
                <a:solidFill>
                  <a:schemeClr val="accent3"/>
                </a:solidFill>
              </a:rPr>
              <a:t>Corrections</a:t>
            </a:r>
            <a:endParaRPr lang="en-US" sz="1400" dirty="0"/>
          </a:p>
        </p:txBody>
      </p:sp>
      <p:sp>
        <p:nvSpPr>
          <p:cNvPr id="8" name="Text 6"/>
          <p:cNvSpPr txBox="1"/>
          <p:nvPr/>
        </p:nvSpPr>
        <p:spPr>
          <a:xfrm>
            <a:off x="3547872" y="1755648"/>
            <a:ext cx="4242816" cy="1764792"/>
          </a:xfrm>
          <a:prstGeom prst="rect">
            <a:avLst/>
          </a:prstGeom>
          <a:noFill/>
          <a:ln/>
        </p:spPr>
        <p:txBody>
          <a:bodyPr wrap="square" lIns="0" tIns="0" rIns="0" bIns="0" rtlCol="0" anchor="t"/>
          <a:lstStyle/>
          <a:p>
            <a:pPr marL="177800" indent="-177800">
              <a:spcAft>
                <a:spcPts val="300"/>
              </a:spcAft>
              <a:buSzPct val="100000"/>
              <a:buChar char="•"/>
            </a:pPr>
            <a:r>
              <a:rPr lang="en-US" sz="1350" dirty="0">
                <a:solidFill>
                  <a:schemeClr val="tx1"/>
                </a:solidFill>
              </a:rPr>
              <a:t>Screenshot is evidence, not payment</a:t>
            </a:r>
            <a:endParaRPr lang="en-US" sz="1350" dirty="0"/>
          </a:p>
          <a:p>
            <a:pPr marL="177800" indent="-177800">
              <a:spcAft>
                <a:spcPts val="300"/>
              </a:spcAft>
              <a:buSzPct val="100000"/>
              <a:buChar char="•"/>
            </a:pPr>
            <a:r>
              <a:rPr lang="en-US" sz="1350" dirty="0">
                <a:solidFill>
                  <a:schemeClr val="tx1"/>
                </a:solidFill>
              </a:rPr>
              <a:t>No allocation on name</a:t>
            </a:r>
            <a:endParaRPr lang="en-US" sz="1350" dirty="0"/>
          </a:p>
          <a:p>
            <a:pPr marL="177800" indent="-177800">
              <a:spcAft>
                <a:spcPts val="300"/>
              </a:spcAft>
              <a:buSzPct val="100000"/>
              <a:buChar char="•"/>
            </a:pPr>
            <a:r>
              <a:rPr lang="en-US" sz="1350" dirty="0">
                <a:solidFill>
                  <a:schemeClr val="tx1"/>
                </a:solidFill>
              </a:rPr>
              <a:t>Separate recording from approval; add audit</a:t>
            </a:r>
            <a:endParaRPr lang="en-US" sz="1350" dirty="0"/>
          </a:p>
          <a:p>
            <a:pPr marL="177800" indent="-177800">
              <a:spcAft>
                <a:spcPts val="300"/>
              </a:spcAft>
              <a:buSzPct val="100000"/>
              <a:buChar char="•"/>
            </a:pPr>
            <a:r>
              <a:rPr lang="en-US" sz="1350" dirty="0">
                <a:solidFill>
                  <a:schemeClr val="tx1"/>
                </a:solidFill>
              </a:rPr>
              <a:t>Define duplicates, splits, reversals, refunds</a:t>
            </a:r>
            <a:endParaRPr lang="en-US" sz="1350" dirty="0"/>
          </a:p>
          <a:p>
            <a:pPr marL="177800" indent="-177800">
              <a:spcAft>
                <a:spcPts val="300"/>
              </a:spcAft>
              <a:buSzPct val="100000"/>
              <a:buChar char="•"/>
            </a:pPr>
            <a:r>
              <a:rPr lang="en-US" sz="1350" dirty="0">
                <a:solidFill>
                  <a:schemeClr val="tx1"/>
                </a:solidFill>
              </a:rPr>
              <a:t>Replace "eliminate reconciliation in 2 weeks" with metrics</a:t>
            </a:r>
            <a:endParaRPr lang="en-US" sz="1350" dirty="0"/>
          </a:p>
        </p:txBody>
      </p:sp>
      <p:sp>
        <p:nvSpPr>
          <p:cNvPr id="9" name="Shape 7"/>
          <p:cNvSpPr/>
          <p:nvPr/>
        </p:nvSpPr>
        <p:spPr>
          <a:xfrm>
            <a:off x="8138160" y="1280160"/>
            <a:ext cx="3593592" cy="2331720"/>
          </a:xfrm>
          <a:prstGeom prst="roundRect">
            <a:avLst>
              <a:gd name="adj" fmla="val 2353"/>
            </a:avLst>
          </a:prstGeom>
          <a:solidFill>
            <a:schemeClr val="accent6"/>
          </a:solidFill>
          <a:ln w="9525">
            <a:solidFill>
              <a:schemeClr val="accent5"/>
            </a:solidFill>
            <a:prstDash val="solid"/>
          </a:ln>
        </p:spPr>
      </p:sp>
      <p:sp>
        <p:nvSpPr>
          <p:cNvPr id="10" name="Text 8"/>
          <p:cNvSpPr txBox="1"/>
          <p:nvPr/>
        </p:nvSpPr>
        <p:spPr>
          <a:xfrm>
            <a:off x="8302752" y="1408176"/>
            <a:ext cx="3264408" cy="292608"/>
          </a:xfrm>
          <a:prstGeom prst="rect">
            <a:avLst/>
          </a:prstGeom>
          <a:noFill/>
          <a:ln/>
        </p:spPr>
        <p:txBody>
          <a:bodyPr wrap="square" lIns="0" tIns="0" rIns="0" bIns="0" rtlCol="0" anchor="t"/>
          <a:lstStyle/>
          <a:p>
            <a:pPr indent="0" marL="0">
              <a:buNone/>
            </a:pPr>
            <a:r>
              <a:rPr lang="en-US" sz="1400" b="1" dirty="0">
                <a:solidFill>
                  <a:schemeClr val="accent1"/>
                </a:solidFill>
              </a:rPr>
              <a:t>PM-owned decisions</a:t>
            </a:r>
            <a:endParaRPr lang="en-US" sz="1400" dirty="0"/>
          </a:p>
        </p:txBody>
      </p:sp>
      <p:sp>
        <p:nvSpPr>
          <p:cNvPr id="11" name="Text 9"/>
          <p:cNvSpPr txBox="1"/>
          <p:nvPr/>
        </p:nvSpPr>
        <p:spPr>
          <a:xfrm>
            <a:off x="8302752" y="1755648"/>
            <a:ext cx="3264408" cy="176479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Evidence standard and approval matrix (with Finance)</a:t>
            </a:r>
            <a:endParaRPr lang="en-US" sz="1350" dirty="0"/>
          </a:p>
          <a:p>
            <a:pPr marL="177800" indent="-177800">
              <a:spcAft>
                <a:spcPts val="500"/>
              </a:spcAft>
              <a:buSzPct val="100000"/>
              <a:buChar char="•"/>
            </a:pPr>
            <a:r>
              <a:rPr lang="en-US" sz="1350" dirty="0">
                <a:solidFill>
                  <a:schemeClr val="tx1"/>
                </a:solidFill>
              </a:rPr>
              <a:t>Phase 1 scope</a:t>
            </a:r>
            <a:endParaRPr lang="en-US" sz="1350" dirty="0"/>
          </a:p>
          <a:p>
            <a:pPr marL="177800" indent="-177800">
              <a:spcAft>
                <a:spcPts val="500"/>
              </a:spcAft>
              <a:buSzPct val="100000"/>
              <a:buChar char="•"/>
            </a:pPr>
            <a:r>
              <a:rPr lang="en-US" sz="1350" dirty="0">
                <a:solidFill>
                  <a:schemeClr val="tx1"/>
                </a:solidFill>
              </a:rPr>
              <a:t>System of record (with engineering)</a:t>
            </a:r>
            <a:endParaRPr lang="en-US" sz="1350" dirty="0"/>
          </a:p>
        </p:txBody>
      </p:sp>
      <p:sp>
        <p:nvSpPr>
          <p:cNvPr id="12" name="Shape 10"/>
          <p:cNvSpPr/>
          <p:nvPr/>
        </p:nvSpPr>
        <p:spPr>
          <a:xfrm>
            <a:off x="457200" y="3794760"/>
            <a:ext cx="3749040" cy="2423160"/>
          </a:xfrm>
          <a:prstGeom prst="roundRect">
            <a:avLst>
              <a:gd name="adj" fmla="val 2264"/>
            </a:avLst>
          </a:prstGeom>
          <a:solidFill>
            <a:schemeClr val="accent6"/>
          </a:solidFill>
          <a:ln w="9525">
            <a:solidFill>
              <a:schemeClr val="accent5"/>
            </a:solidFill>
            <a:prstDash val="solid"/>
          </a:ln>
        </p:spPr>
      </p:sp>
      <p:sp>
        <p:nvSpPr>
          <p:cNvPr id="13" name="Text 11"/>
          <p:cNvSpPr txBox="1"/>
          <p:nvPr/>
        </p:nvSpPr>
        <p:spPr>
          <a:xfrm>
            <a:off x="621792" y="3922776"/>
            <a:ext cx="3419856" cy="292608"/>
          </a:xfrm>
          <a:prstGeom prst="rect">
            <a:avLst/>
          </a:prstGeom>
          <a:noFill/>
          <a:ln/>
        </p:spPr>
        <p:txBody>
          <a:bodyPr wrap="square" lIns="0" tIns="0" rIns="0" bIns="0" rtlCol="0" anchor="t"/>
          <a:lstStyle/>
          <a:p>
            <a:pPr indent="0" marL="0">
              <a:buNone/>
            </a:pPr>
            <a:r>
              <a:rPr lang="en-US" sz="1400" b="1" dirty="0">
                <a:solidFill>
                  <a:schemeClr val="accent1"/>
                </a:solidFill>
              </a:rPr>
              <a:t>Returned to APM</a:t>
            </a:r>
            <a:endParaRPr lang="en-US" sz="1400" dirty="0"/>
          </a:p>
        </p:txBody>
      </p:sp>
      <p:sp>
        <p:nvSpPr>
          <p:cNvPr id="14" name="Text 12"/>
          <p:cNvSpPr txBox="1"/>
          <p:nvPr/>
        </p:nvSpPr>
        <p:spPr>
          <a:xfrm>
            <a:off x="621792" y="4270248"/>
            <a:ext cx="3419856" cy="18562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Write T-SAMPLE expected results independently</a:t>
            </a:r>
            <a:endParaRPr lang="en-US" sz="1350" dirty="0"/>
          </a:p>
          <a:p>
            <a:pPr marL="177800" indent="-177800">
              <a:spcAft>
                <a:spcPts val="500"/>
              </a:spcAft>
              <a:buSzPct val="100000"/>
              <a:buChar char="•"/>
            </a:pPr>
            <a:r>
              <a:rPr lang="en-US" sz="1350" dirty="0">
                <a:solidFill>
                  <a:schemeClr val="tx1"/>
                </a:solidFill>
              </a:rPr>
              <a:t>Shadow Ops for a day; collect baselines</a:t>
            </a:r>
            <a:endParaRPr lang="en-US" sz="1350" dirty="0"/>
          </a:p>
          <a:p>
            <a:pPr marL="177800" indent="-177800">
              <a:spcAft>
                <a:spcPts val="500"/>
              </a:spcAft>
              <a:buSzPct val="100000"/>
              <a:buChar char="•"/>
            </a:pPr>
            <a:r>
              <a:rPr lang="en-US" sz="1350" dirty="0">
                <a:solidFill>
                  <a:schemeClr val="tx1"/>
                </a:solidFill>
              </a:rPr>
              <a:t>Draft notification templates</a:t>
            </a:r>
            <a:endParaRPr lang="en-US" sz="1350" dirty="0"/>
          </a:p>
          <a:p>
            <a:pPr marL="177800" indent="-177800">
              <a:spcAft>
                <a:spcPts val="500"/>
              </a:spcAft>
              <a:buSzPct val="100000"/>
              <a:buChar char="•"/>
            </a:pPr>
            <a:r>
              <a:rPr lang="en-US" sz="1350" dirty="0">
                <a:solidFill>
                  <a:schemeClr val="tx1"/>
                </a:solidFill>
              </a:rPr>
              <a:t>Validate data fields against the SMS</a:t>
            </a:r>
            <a:endParaRPr lang="en-US" sz="1350" dirty="0"/>
          </a:p>
        </p:txBody>
      </p:sp>
      <p:sp>
        <p:nvSpPr>
          <p:cNvPr id="15" name="Shape 13"/>
          <p:cNvSpPr/>
          <p:nvPr/>
        </p:nvSpPr>
        <p:spPr>
          <a:xfrm>
            <a:off x="4389120" y="3794760"/>
            <a:ext cx="3566160" cy="2423160"/>
          </a:xfrm>
          <a:prstGeom prst="roundRect">
            <a:avLst>
              <a:gd name="adj" fmla="val 2264"/>
            </a:avLst>
          </a:prstGeom>
          <a:solidFill>
            <a:schemeClr val="accent6"/>
          </a:solidFill>
          <a:ln w="9525">
            <a:solidFill>
              <a:schemeClr val="accent5"/>
            </a:solidFill>
            <a:prstDash val="solid"/>
          </a:ln>
        </p:spPr>
      </p:sp>
      <p:sp>
        <p:nvSpPr>
          <p:cNvPr id="16" name="Text 14"/>
          <p:cNvSpPr txBox="1"/>
          <p:nvPr/>
        </p:nvSpPr>
        <p:spPr>
          <a:xfrm>
            <a:off x="4553712" y="3922776"/>
            <a:ext cx="3236976" cy="292608"/>
          </a:xfrm>
          <a:prstGeom prst="rect">
            <a:avLst/>
          </a:prstGeom>
          <a:noFill/>
          <a:ln/>
        </p:spPr>
        <p:txBody>
          <a:bodyPr wrap="square" lIns="0" tIns="0" rIns="0" bIns="0" rtlCol="0" anchor="t"/>
          <a:lstStyle/>
          <a:p>
            <a:pPr indent="0" marL="0">
              <a:buNone/>
            </a:pPr>
            <a:r>
              <a:rPr lang="en-US" sz="1400" b="1" dirty="0">
                <a:solidFill>
                  <a:schemeClr val="accent1"/>
                </a:solidFill>
              </a:rPr>
              <a:t>Pre-engineering checks</a:t>
            </a:r>
            <a:endParaRPr lang="en-US" sz="1400" dirty="0"/>
          </a:p>
        </p:txBody>
      </p:sp>
      <p:sp>
        <p:nvSpPr>
          <p:cNvPr id="17" name="Text 15"/>
          <p:cNvSpPr txBox="1"/>
          <p:nvPr/>
        </p:nvSpPr>
        <p:spPr>
          <a:xfrm>
            <a:off x="4553712" y="4270248"/>
            <a:ext cx="3236976" cy="18562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Finance sign-off on rules</a:t>
            </a:r>
            <a:endParaRPr lang="en-US" sz="1350" dirty="0"/>
          </a:p>
          <a:p>
            <a:pPr marL="177800" indent="-177800">
              <a:spcAft>
                <a:spcPts val="500"/>
              </a:spcAft>
              <a:buSzPct val="100000"/>
              <a:buChar char="•"/>
            </a:pPr>
            <a:r>
              <a:rPr lang="en-US" sz="1350" dirty="0">
                <a:solidFill>
                  <a:schemeClr val="tx1"/>
                </a:solidFill>
              </a:rPr>
              <a:t>Every AC testable</a:t>
            </a:r>
            <a:endParaRPr lang="en-US" sz="1350" dirty="0"/>
          </a:p>
          <a:p>
            <a:pPr marL="177800" indent="-177800">
              <a:spcAft>
                <a:spcPts val="500"/>
              </a:spcAft>
              <a:buSzPct val="100000"/>
              <a:buChar char="•"/>
            </a:pPr>
            <a:r>
              <a:rPr lang="en-US" sz="1350" dirty="0">
                <a:solidFill>
                  <a:schemeClr val="tx1"/>
                </a:solidFill>
              </a:rPr>
              <a:t>Sample walkthrough reproduced by a second person</a:t>
            </a:r>
            <a:endParaRPr lang="en-US" sz="1350" dirty="0"/>
          </a:p>
          <a:p>
            <a:pPr marL="177800" indent="-177800">
              <a:spcAft>
                <a:spcPts val="500"/>
              </a:spcAft>
              <a:buSzPct val="100000"/>
              <a:buChar char="•"/>
            </a:pPr>
            <a:r>
              <a:rPr lang="en-US" sz="1350" dirty="0">
                <a:solidFill>
                  <a:schemeClr val="tx1"/>
                </a:solidFill>
              </a:rPr>
              <a:t>Open items have owner and date</a:t>
            </a:r>
            <a:endParaRPr lang="en-US" sz="1350" dirty="0"/>
          </a:p>
        </p:txBody>
      </p:sp>
      <p:sp>
        <p:nvSpPr>
          <p:cNvPr id="18" name="Shape 16"/>
          <p:cNvSpPr/>
          <p:nvPr/>
        </p:nvSpPr>
        <p:spPr>
          <a:xfrm>
            <a:off x="8138160" y="3794760"/>
            <a:ext cx="3593592" cy="2423160"/>
          </a:xfrm>
          <a:prstGeom prst="roundRect">
            <a:avLst>
              <a:gd name="adj" fmla="val 2264"/>
            </a:avLst>
          </a:prstGeom>
          <a:solidFill>
            <a:schemeClr val="accent6"/>
          </a:solidFill>
          <a:ln w="9525">
            <a:solidFill>
              <a:schemeClr val="accent5"/>
            </a:solidFill>
            <a:prstDash val="solid"/>
          </a:ln>
        </p:spPr>
      </p:sp>
      <p:sp>
        <p:nvSpPr>
          <p:cNvPr id="19" name="Text 17"/>
          <p:cNvSpPr txBox="1"/>
          <p:nvPr/>
        </p:nvSpPr>
        <p:spPr>
          <a:xfrm>
            <a:off x="8302752" y="3922776"/>
            <a:ext cx="3264408" cy="292608"/>
          </a:xfrm>
          <a:prstGeom prst="rect">
            <a:avLst/>
          </a:prstGeom>
          <a:noFill/>
          <a:ln/>
        </p:spPr>
        <p:txBody>
          <a:bodyPr wrap="square" lIns="0" tIns="0" rIns="0" bIns="0" rtlCol="0" anchor="t"/>
          <a:lstStyle/>
          <a:p>
            <a:pPr indent="0" marL="0">
              <a:buNone/>
            </a:pPr>
            <a:r>
              <a:rPr lang="en-US" sz="1400" b="1" dirty="0">
                <a:solidFill>
                  <a:schemeClr val="accent1"/>
                </a:solidFill>
              </a:rPr>
              <a:t>Development plan</a:t>
            </a:r>
            <a:endParaRPr lang="en-US" sz="1400" dirty="0"/>
          </a:p>
        </p:txBody>
      </p:sp>
      <p:sp>
        <p:nvSpPr>
          <p:cNvPr id="20" name="Text 18"/>
          <p:cNvSpPr txBox="1"/>
          <p:nvPr/>
        </p:nvSpPr>
        <p:spPr>
          <a:xfrm>
            <a:off x="8302752" y="4270248"/>
            <a:ext cx="3264408" cy="18562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Failure-mode note per rule before review</a:t>
            </a:r>
            <a:endParaRPr lang="en-US" sz="1350" dirty="0"/>
          </a:p>
          <a:p>
            <a:pPr marL="177800" indent="-177800">
              <a:spcAft>
                <a:spcPts val="500"/>
              </a:spcAft>
              <a:buSzPct val="100000"/>
              <a:buChar char="•"/>
            </a:pPr>
            <a:r>
              <a:rPr lang="en-US" sz="1350" dirty="0">
                <a:solidFill>
                  <a:schemeClr val="tx1"/>
                </a:solidFill>
              </a:rPr>
              <a:t>Weekly 30-min spec review against a checklist</a:t>
            </a:r>
            <a:endParaRPr lang="en-US" sz="1350" dirty="0"/>
          </a:p>
          <a:p>
            <a:pPr marL="177800" indent="-177800">
              <a:spcAft>
                <a:spcPts val="500"/>
              </a:spcAft>
              <a:buSzPct val="100000"/>
              <a:buChar char="•"/>
            </a:pPr>
            <a:r>
              <a:rPr lang="en-US" sz="1350" dirty="0">
                <a:solidFill>
                  <a:schemeClr val="tx1"/>
                </a:solidFill>
              </a:rPr>
              <a:t>APM leads next engineering walkthrough</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Founder update format: status, progress, risks and two decisions due 6 Nov</a:t>
            </a:r>
            <a:endParaRPr lang="en-US" sz="2400" dirty="0"/>
          </a:p>
        </p:txBody>
      </p:sp>
      <p:sp>
        <p:nvSpPr>
          <p:cNvPr id="3" name="Shape 1"/>
          <p:cNvSpPr/>
          <p:nvPr/>
        </p:nvSpPr>
        <p:spPr>
          <a:xfrm>
            <a:off x="457200" y="1280160"/>
            <a:ext cx="11274552" cy="457200"/>
          </a:xfrm>
          <a:prstGeom prst="rect">
            <a:avLst/>
          </a:prstGeom>
          <a:solidFill>
            <a:schemeClr val="bg2"/>
          </a:solidFill>
          <a:ln w="6350">
            <a:solidFill>
              <a:schemeClr val="accent5"/>
            </a:solidFill>
            <a:prstDash val="solid"/>
          </a:ln>
        </p:spPr>
      </p:sp>
      <p:sp>
        <p:nvSpPr>
          <p:cNvPr id="4" name="Text 2"/>
          <p:cNvSpPr txBox="1"/>
          <p:nvPr/>
        </p:nvSpPr>
        <p:spPr>
          <a:xfrm>
            <a:off x="621792" y="1344168"/>
            <a:ext cx="10972800" cy="329184"/>
          </a:xfrm>
          <a:prstGeom prst="rect">
            <a:avLst/>
          </a:prstGeom>
          <a:noFill/>
          <a:ln/>
        </p:spPr>
        <p:txBody>
          <a:bodyPr wrap="square" lIns="0" tIns="0" rIns="0" bIns="0" rtlCol="0" anchor="ctr"/>
          <a:lstStyle/>
          <a:p>
            <a:pPr indent="0" marL="0">
              <a:buNone/>
            </a:pPr>
            <a:r>
              <a:rPr lang="en-US" sz="1300" b="1" dirty="0">
                <a:solidFill>
                  <a:schemeClr val="accent1"/>
                </a:solidFill>
              </a:rPr>
              <a:t>Monday update · week of 26 Oct · Verified Fee Reconciliation · </a:t>
            </a:r>
            <a:pPr indent="0" marL="0">
              <a:buNone/>
            </a:pPr>
            <a:r>
              <a:rPr lang="en-US" sz="1300" b="1" dirty="0">
                <a:solidFill>
                  <a:schemeClr val="accent1"/>
                </a:solidFill>
              </a:rPr>
              <a:t>Status: on track for engineering kickoff 3 Nov</a:t>
            </a:r>
            <a:endParaRPr lang="en-US" sz="1300" dirty="0"/>
          </a:p>
        </p:txBody>
      </p:sp>
      <p:sp>
        <p:nvSpPr>
          <p:cNvPr id="5" name="Shape 3"/>
          <p:cNvSpPr/>
          <p:nvPr/>
        </p:nvSpPr>
        <p:spPr>
          <a:xfrm>
            <a:off x="457200" y="1874520"/>
            <a:ext cx="2130552" cy="2743200"/>
          </a:xfrm>
          <a:prstGeom prst="roundRect">
            <a:avLst>
              <a:gd name="adj" fmla="val 2575"/>
            </a:avLst>
          </a:prstGeom>
          <a:solidFill>
            <a:schemeClr val="accent6"/>
          </a:solidFill>
          <a:ln w="9525">
            <a:solidFill>
              <a:schemeClr val="accent5"/>
            </a:solidFill>
            <a:prstDash val="solid"/>
          </a:ln>
        </p:spPr>
      </p:sp>
      <p:sp>
        <p:nvSpPr>
          <p:cNvPr id="6" name="Text 4"/>
          <p:cNvSpPr txBox="1"/>
          <p:nvPr/>
        </p:nvSpPr>
        <p:spPr>
          <a:xfrm>
            <a:off x="621792" y="2002536"/>
            <a:ext cx="1801368" cy="292608"/>
          </a:xfrm>
          <a:prstGeom prst="rect">
            <a:avLst/>
          </a:prstGeom>
          <a:noFill/>
          <a:ln/>
        </p:spPr>
        <p:txBody>
          <a:bodyPr wrap="square" lIns="0" tIns="0" rIns="0" bIns="0" rtlCol="0" anchor="t"/>
          <a:lstStyle/>
          <a:p>
            <a:pPr indent="0" marL="0">
              <a:buNone/>
            </a:pPr>
            <a:r>
              <a:rPr lang="en-US" sz="1400" b="1" dirty="0">
                <a:solidFill>
                  <a:schemeClr val="accent1"/>
                </a:solidFill>
              </a:rPr>
              <a:t>Completed</a:t>
            </a:r>
            <a:endParaRPr lang="en-US" sz="1400" dirty="0"/>
          </a:p>
        </p:txBody>
      </p:sp>
      <p:sp>
        <p:nvSpPr>
          <p:cNvPr id="7" name="Text 5"/>
          <p:cNvSpPr txBox="1"/>
          <p:nvPr/>
        </p:nvSpPr>
        <p:spPr>
          <a:xfrm>
            <a:off x="621792" y="2350008"/>
            <a:ext cx="1801368" cy="21762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APM draft review (12 gaps)</a:t>
            </a:r>
            <a:endParaRPr lang="en-US" sz="1250" dirty="0"/>
          </a:p>
          <a:p>
            <a:pPr marL="177800" indent="-177800">
              <a:spcAft>
                <a:spcPts val="500"/>
              </a:spcAft>
              <a:buSzPct val="100000"/>
              <a:buChar char="•"/>
            </a:pPr>
            <a:r>
              <a:rPr lang="en-US" sz="1250" dirty="0">
                <a:solidFill>
                  <a:schemeClr val="tx1"/>
                </a:solidFill>
              </a:rPr>
              <a:t>PRD v1.0 and 3 wireframes</a:t>
            </a:r>
            <a:endParaRPr lang="en-US" sz="1250" dirty="0"/>
          </a:p>
          <a:p>
            <a:pPr marL="177800" indent="-177800">
              <a:spcAft>
                <a:spcPts val="500"/>
              </a:spcAft>
              <a:buSzPct val="100000"/>
              <a:buChar char="•"/>
            </a:pPr>
            <a:r>
              <a:rPr lang="en-US" sz="1250" dirty="0">
                <a:solidFill>
                  <a:schemeClr val="tx1"/>
                </a:solidFill>
              </a:rPr>
              <a:t>Sample data walkthrough</a:t>
            </a:r>
            <a:endParaRPr lang="en-US" sz="1250" dirty="0"/>
          </a:p>
        </p:txBody>
      </p:sp>
      <p:sp>
        <p:nvSpPr>
          <p:cNvPr id="8" name="Shape 6"/>
          <p:cNvSpPr/>
          <p:nvPr/>
        </p:nvSpPr>
        <p:spPr>
          <a:xfrm>
            <a:off x="2743200" y="1874520"/>
            <a:ext cx="2130552" cy="2743200"/>
          </a:xfrm>
          <a:prstGeom prst="roundRect">
            <a:avLst>
              <a:gd name="adj" fmla="val 2575"/>
            </a:avLst>
          </a:prstGeom>
          <a:solidFill>
            <a:schemeClr val="accent6"/>
          </a:solidFill>
          <a:ln w="9525">
            <a:solidFill>
              <a:schemeClr val="accent5"/>
            </a:solidFill>
            <a:prstDash val="solid"/>
          </a:ln>
        </p:spPr>
      </p:sp>
      <p:sp>
        <p:nvSpPr>
          <p:cNvPr id="9" name="Text 7"/>
          <p:cNvSpPr txBox="1"/>
          <p:nvPr/>
        </p:nvSpPr>
        <p:spPr>
          <a:xfrm>
            <a:off x="2907792" y="2002536"/>
            <a:ext cx="1801368" cy="292608"/>
          </a:xfrm>
          <a:prstGeom prst="rect">
            <a:avLst/>
          </a:prstGeom>
          <a:noFill/>
          <a:ln/>
        </p:spPr>
        <p:txBody>
          <a:bodyPr wrap="square" lIns="0" tIns="0" rIns="0" bIns="0" rtlCol="0" anchor="t"/>
          <a:lstStyle/>
          <a:p>
            <a:pPr indent="0" marL="0">
              <a:buNone/>
            </a:pPr>
            <a:r>
              <a:rPr lang="en-US" sz="1400" b="1" dirty="0">
                <a:solidFill>
                  <a:schemeClr val="accent1"/>
                </a:solidFill>
              </a:rPr>
              <a:t>Pending</a:t>
            </a:r>
            <a:endParaRPr lang="en-US" sz="1400" dirty="0"/>
          </a:p>
        </p:txBody>
      </p:sp>
      <p:sp>
        <p:nvSpPr>
          <p:cNvPr id="10" name="Text 8"/>
          <p:cNvSpPr txBox="1"/>
          <p:nvPr/>
        </p:nvSpPr>
        <p:spPr>
          <a:xfrm>
            <a:off x="2907792" y="2350008"/>
            <a:ext cx="1801368" cy="21762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Parameter sign-off (Wed)</a:t>
            </a:r>
            <a:endParaRPr lang="en-US" sz="1250" dirty="0"/>
          </a:p>
          <a:p>
            <a:pPr marL="177800" indent="-177800">
              <a:spcAft>
                <a:spcPts val="500"/>
              </a:spcAft>
              <a:buSzPct val="100000"/>
              <a:buChar char="•"/>
            </a:pPr>
            <a:r>
              <a:rPr lang="en-US" sz="1250" dirty="0">
                <a:solidFill>
                  <a:schemeClr val="tx1"/>
                </a:solidFill>
              </a:rPr>
              <a:t>Bank feed field list (Thu)</a:t>
            </a:r>
            <a:endParaRPr lang="en-US" sz="1250" dirty="0"/>
          </a:p>
          <a:p>
            <a:pPr marL="177800" indent="-177800">
              <a:spcAft>
                <a:spcPts val="500"/>
              </a:spcAft>
              <a:buSzPct val="100000"/>
              <a:buChar char="•"/>
            </a:pPr>
            <a:r>
              <a:rPr lang="en-US" sz="1250" dirty="0">
                <a:solidFill>
                  <a:schemeClr val="tx1"/>
                </a:solidFill>
              </a:rPr>
              <a:t>Notification templates (Fri)</a:t>
            </a:r>
            <a:endParaRPr lang="en-US" sz="1250" dirty="0"/>
          </a:p>
        </p:txBody>
      </p:sp>
      <p:sp>
        <p:nvSpPr>
          <p:cNvPr id="11" name="Shape 9"/>
          <p:cNvSpPr/>
          <p:nvPr/>
        </p:nvSpPr>
        <p:spPr>
          <a:xfrm>
            <a:off x="5029200" y="1874520"/>
            <a:ext cx="2130552" cy="2743200"/>
          </a:xfrm>
          <a:prstGeom prst="roundRect">
            <a:avLst>
              <a:gd name="adj" fmla="val 2575"/>
            </a:avLst>
          </a:prstGeom>
          <a:solidFill>
            <a:schemeClr val="accent6"/>
          </a:solidFill>
          <a:ln w="9525">
            <a:solidFill>
              <a:schemeClr val="accent5"/>
            </a:solidFill>
            <a:prstDash val="solid"/>
          </a:ln>
        </p:spPr>
      </p:sp>
      <p:sp>
        <p:nvSpPr>
          <p:cNvPr id="12" name="Text 10"/>
          <p:cNvSpPr txBox="1"/>
          <p:nvPr/>
        </p:nvSpPr>
        <p:spPr>
          <a:xfrm>
            <a:off x="5193792" y="2002536"/>
            <a:ext cx="1801368" cy="292608"/>
          </a:xfrm>
          <a:prstGeom prst="rect">
            <a:avLst/>
          </a:prstGeom>
          <a:noFill/>
          <a:ln/>
        </p:spPr>
        <p:txBody>
          <a:bodyPr wrap="square" lIns="0" tIns="0" rIns="0" bIns="0" rtlCol="0" anchor="t"/>
          <a:lstStyle/>
          <a:p>
            <a:pPr indent="0" marL="0">
              <a:buNone/>
            </a:pPr>
            <a:r>
              <a:rPr lang="en-US" sz="1400" b="1" dirty="0">
                <a:solidFill>
                  <a:schemeClr val="accent1"/>
                </a:solidFill>
              </a:rPr>
              <a:t>Decisions made</a:t>
            </a:r>
            <a:endParaRPr lang="en-US" sz="1400" dirty="0"/>
          </a:p>
        </p:txBody>
      </p:sp>
      <p:sp>
        <p:nvSpPr>
          <p:cNvPr id="13" name="Text 11"/>
          <p:cNvSpPr txBox="1"/>
          <p:nvPr/>
        </p:nvSpPr>
        <p:spPr>
          <a:xfrm>
            <a:off x="5193792" y="2350008"/>
            <a:ext cx="1801368" cy="21762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Bank feed is sole proof of payment</a:t>
            </a:r>
            <a:endParaRPr lang="en-US" sz="1250" dirty="0"/>
          </a:p>
          <a:p>
            <a:pPr marL="177800" indent="-177800">
              <a:spcAft>
                <a:spcPts val="500"/>
              </a:spcAft>
              <a:buSzPct val="100000"/>
              <a:buChar char="•"/>
            </a:pPr>
            <a:r>
              <a:rPr lang="en-US" sz="1250" dirty="0">
                <a:solidFill>
                  <a:schemeClr val="tx1"/>
                </a:solidFill>
              </a:rPr>
              <a:t>No allocation on name</a:t>
            </a:r>
            <a:endParaRPr lang="en-US" sz="1250" dirty="0"/>
          </a:p>
          <a:p>
            <a:pPr marL="177800" indent="-177800">
              <a:spcAft>
                <a:spcPts val="500"/>
              </a:spcAft>
              <a:buSzPct val="100000"/>
              <a:buChar char="•"/>
            </a:pPr>
            <a:r>
              <a:rPr lang="en-US" sz="1250" dirty="0">
                <a:solidFill>
                  <a:schemeClr val="tx1"/>
                </a:solidFill>
              </a:rPr>
              <a:t>Finance verifies cash</a:t>
            </a:r>
            <a:endParaRPr lang="en-US" sz="1250" dirty="0"/>
          </a:p>
        </p:txBody>
      </p:sp>
      <p:sp>
        <p:nvSpPr>
          <p:cNvPr id="14" name="Shape 12"/>
          <p:cNvSpPr/>
          <p:nvPr/>
        </p:nvSpPr>
        <p:spPr>
          <a:xfrm>
            <a:off x="7315200" y="1874520"/>
            <a:ext cx="2130552" cy="2743200"/>
          </a:xfrm>
          <a:prstGeom prst="roundRect">
            <a:avLst>
              <a:gd name="adj" fmla="val 2575"/>
            </a:avLst>
          </a:prstGeom>
          <a:solidFill>
            <a:schemeClr val="accent6"/>
          </a:solidFill>
          <a:ln w="9525">
            <a:solidFill>
              <a:schemeClr val="accent5"/>
            </a:solidFill>
            <a:prstDash val="solid"/>
          </a:ln>
        </p:spPr>
      </p:sp>
      <p:sp>
        <p:nvSpPr>
          <p:cNvPr id="15" name="Text 13"/>
          <p:cNvSpPr txBox="1"/>
          <p:nvPr/>
        </p:nvSpPr>
        <p:spPr>
          <a:xfrm>
            <a:off x="7479792" y="2002536"/>
            <a:ext cx="1801368" cy="292608"/>
          </a:xfrm>
          <a:prstGeom prst="rect">
            <a:avLst/>
          </a:prstGeom>
          <a:noFill/>
          <a:ln/>
        </p:spPr>
        <p:txBody>
          <a:bodyPr wrap="square" lIns="0" tIns="0" rIns="0" bIns="0" rtlCol="0" anchor="t"/>
          <a:lstStyle/>
          <a:p>
            <a:pPr indent="0" marL="0">
              <a:buNone/>
            </a:pPr>
            <a:r>
              <a:rPr lang="en-US" sz="1400" b="1" dirty="0">
                <a:solidFill>
                  <a:schemeClr val="accent1"/>
                </a:solidFill>
              </a:rPr>
              <a:t>Risks</a:t>
            </a:r>
            <a:endParaRPr lang="en-US" sz="1400" dirty="0"/>
          </a:p>
        </p:txBody>
      </p:sp>
      <p:sp>
        <p:nvSpPr>
          <p:cNvPr id="16" name="Text 14"/>
          <p:cNvSpPr txBox="1"/>
          <p:nvPr/>
        </p:nvSpPr>
        <p:spPr>
          <a:xfrm>
            <a:off x="7479792" y="2350008"/>
            <a:ext cx="1801368" cy="21762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Bank API lead time unknown</a:t>
            </a:r>
            <a:endParaRPr lang="en-US" sz="1250" dirty="0"/>
          </a:p>
          <a:p>
            <a:pPr marL="177800" indent="-177800">
              <a:spcAft>
                <a:spcPts val="500"/>
              </a:spcAft>
              <a:buSzPct val="100000"/>
              <a:buChar char="•"/>
            </a:pPr>
            <a:r>
              <a:rPr lang="en-US" sz="1250" dirty="0">
                <a:solidFill>
                  <a:schemeClr val="tx1"/>
                </a:solidFill>
              </a:rPr>
              <a:t>SMS API may need vendor work</a:t>
            </a:r>
            <a:endParaRPr lang="en-US" sz="1250" dirty="0"/>
          </a:p>
          <a:p>
            <a:pPr marL="177800" indent="-177800">
              <a:spcAft>
                <a:spcPts val="500"/>
              </a:spcAft>
              <a:buSzPct val="100000"/>
              <a:buChar char="•"/>
            </a:pPr>
            <a:r>
              <a:rPr lang="en-US" sz="1250" dirty="0">
                <a:solidFill>
                  <a:schemeClr val="tx1"/>
                </a:solidFill>
              </a:rPr>
              <a:t>Opening-balance migration</a:t>
            </a:r>
            <a:endParaRPr lang="en-US" sz="1250" dirty="0"/>
          </a:p>
        </p:txBody>
      </p:sp>
      <p:sp>
        <p:nvSpPr>
          <p:cNvPr id="17" name="Shape 15"/>
          <p:cNvSpPr/>
          <p:nvPr/>
        </p:nvSpPr>
        <p:spPr>
          <a:xfrm>
            <a:off x="9601200" y="1874520"/>
            <a:ext cx="2130552" cy="2743200"/>
          </a:xfrm>
          <a:prstGeom prst="roundRect">
            <a:avLst>
              <a:gd name="adj" fmla="val 2575"/>
            </a:avLst>
          </a:prstGeom>
          <a:solidFill>
            <a:schemeClr val="accent6"/>
          </a:solidFill>
          <a:ln w="9525">
            <a:solidFill>
              <a:schemeClr val="accent5"/>
            </a:solidFill>
            <a:prstDash val="solid"/>
          </a:ln>
        </p:spPr>
      </p:sp>
      <p:sp>
        <p:nvSpPr>
          <p:cNvPr id="18" name="Text 16"/>
          <p:cNvSpPr txBox="1"/>
          <p:nvPr/>
        </p:nvSpPr>
        <p:spPr>
          <a:xfrm>
            <a:off x="9765792" y="2002536"/>
            <a:ext cx="1801368" cy="292608"/>
          </a:xfrm>
          <a:prstGeom prst="rect">
            <a:avLst/>
          </a:prstGeom>
          <a:noFill/>
          <a:ln/>
        </p:spPr>
        <p:txBody>
          <a:bodyPr wrap="square" lIns="0" tIns="0" rIns="0" bIns="0" rtlCol="0" anchor="t"/>
          <a:lstStyle/>
          <a:p>
            <a:pPr indent="0" marL="0">
              <a:buNone/>
            </a:pPr>
            <a:r>
              <a:rPr lang="en-US" sz="1400" b="1" dirty="0">
                <a:solidFill>
                  <a:schemeClr val="accent1"/>
                </a:solidFill>
              </a:rPr>
              <a:t>Readiness</a:t>
            </a:r>
            <a:endParaRPr lang="en-US" sz="1400" dirty="0"/>
          </a:p>
        </p:txBody>
      </p:sp>
      <p:sp>
        <p:nvSpPr>
          <p:cNvPr id="19" name="Text 17"/>
          <p:cNvSpPr txBox="1"/>
          <p:nvPr/>
        </p:nvSpPr>
        <p:spPr>
          <a:xfrm>
            <a:off x="9765792" y="2350008"/>
            <a:ext cx="1801368" cy="21762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tx1"/>
                </a:solidFill>
              </a:rPr>
              <a:t>14 AC, 12 test scenarios written</a:t>
            </a:r>
            <a:endParaRPr lang="en-US" sz="1250" dirty="0"/>
          </a:p>
          <a:p>
            <a:pPr marL="177800" indent="-177800">
              <a:spcAft>
                <a:spcPts val="500"/>
              </a:spcAft>
              <a:buSzPct val="100000"/>
              <a:buChar char="•"/>
            </a:pPr>
            <a:r>
              <a:rPr lang="en-US" sz="1250" dirty="0">
                <a:solidFill>
                  <a:schemeClr val="tx1"/>
                </a:solidFill>
              </a:rPr>
              <a:t>2-week parallel run planned</a:t>
            </a:r>
            <a:endParaRPr lang="en-US" sz="1250" dirty="0"/>
          </a:p>
          <a:p>
            <a:pPr marL="177800" indent="-177800">
              <a:spcAft>
                <a:spcPts val="500"/>
              </a:spcAft>
              <a:buSzPct val="100000"/>
              <a:buChar char="•"/>
            </a:pPr>
            <a:r>
              <a:rPr lang="en-US" sz="1250" dirty="0">
                <a:solidFill>
                  <a:schemeClr val="tx1"/>
                </a:solidFill>
              </a:rPr>
              <a:t>Release checklist agreed</a:t>
            </a:r>
            <a:endParaRPr lang="en-US" sz="1250" dirty="0"/>
          </a:p>
        </p:txBody>
      </p:sp>
      <p:sp>
        <p:nvSpPr>
          <p:cNvPr id="20" name="Shape 18"/>
          <p:cNvSpPr/>
          <p:nvPr/>
        </p:nvSpPr>
        <p:spPr>
          <a:xfrm>
            <a:off x="457200" y="4754880"/>
            <a:ext cx="11274552" cy="1417320"/>
          </a:xfrm>
          <a:prstGeom prst="rect">
            <a:avLst/>
          </a:prstGeom>
          <a:solidFill>
            <a:schemeClr val="bg1"/>
          </a:solidFill>
          <a:ln w="15875">
            <a:solidFill>
              <a:schemeClr val="accent3"/>
            </a:solidFill>
            <a:prstDash val="solid"/>
          </a:ln>
        </p:spPr>
      </p:sp>
      <p:sp>
        <p:nvSpPr>
          <p:cNvPr id="21" name="Text 19"/>
          <p:cNvSpPr txBox="1"/>
          <p:nvPr/>
        </p:nvSpPr>
        <p:spPr>
          <a:xfrm>
            <a:off x="640080" y="4846320"/>
            <a:ext cx="5486400" cy="274320"/>
          </a:xfrm>
          <a:prstGeom prst="rect">
            <a:avLst/>
          </a:prstGeom>
          <a:noFill/>
          <a:ln/>
        </p:spPr>
        <p:txBody>
          <a:bodyPr wrap="square" lIns="0" tIns="0" rIns="0" bIns="0" rtlCol="0" anchor="t"/>
          <a:lstStyle/>
          <a:p>
            <a:pPr indent="0" marL="0">
              <a:buNone/>
            </a:pPr>
            <a:r>
              <a:rPr lang="en-US" sz="1400" b="1" dirty="0">
                <a:solidFill>
                  <a:schemeClr val="accent3"/>
                </a:solidFill>
              </a:rPr>
              <a:t>Founder decisions</a:t>
            </a:r>
            <a:endParaRPr lang="en-US" sz="1400" dirty="0"/>
          </a:p>
        </p:txBody>
      </p:sp>
      <p:sp>
        <p:nvSpPr>
          <p:cNvPr id="22" name="Text 20"/>
          <p:cNvSpPr txBox="1"/>
          <p:nvPr/>
        </p:nvSpPr>
        <p:spPr>
          <a:xfrm>
            <a:off x="640080" y="5166360"/>
            <a:ext cx="10881360" cy="96012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tx1"/>
                </a:solidFill>
              </a:rPr>
              <a:t>Pursue per-student virtual accounts / payment links with bank or gateway (phase 2). Due 6 Nov.</a:t>
            </a:r>
            <a:endParaRPr lang="en-US" sz="1250" dirty="0"/>
          </a:p>
          <a:p>
            <a:pPr marL="177800" indent="-177800">
              <a:spcAft>
                <a:spcPts val="400"/>
              </a:spcAft>
              <a:buSzPct val="100000"/>
              <a:buChar char="•"/>
            </a:pPr>
            <a:r>
              <a:rPr lang="en-US" sz="1250" dirty="0">
                <a:solidFill>
                  <a:schemeClr val="tx1"/>
                </a:solidFill>
              </a:rPr>
              <a:t>Approve refund to source for suspense credits unresolved at 30 days. Due 6 Nov.</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Appendix A: acceptance criteria</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731520"/>
                <a:gridCol w="10543032"/>
              </a:tblGrid>
              <a:tr h="329184">
                <a:tc>
                  <a:txBody>
                    <a:bodyPr/>
                    <a:lstStyle/>
                    <a:p>
                      <a:pPr indent="0" marL="0">
                        <a:buNone/>
                      </a:pPr>
                      <a:r>
                        <a:rPr lang="en-US" sz="1150" b="1" dirty="0">
                          <a:solidFill>
                            <a:schemeClr val="bg1"/>
                          </a:solidFill>
                        </a:rPr>
                        <a:t>ID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Criterion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r>
              <a:tr h="329184">
                <a:tc>
                  <a:txBody>
                    <a:bodyPr/>
                    <a:lstStyle/>
                    <a:p>
                      <a:pPr indent="0" marL="0">
                        <a:buNone/>
                      </a:pPr>
                      <a:r>
                        <a:rPr lang="en-US" sz="1150" b="1" dirty="0">
                          <a:solidFill>
                            <a:srgbClr val="000000"/>
                          </a:solidFill>
                        </a:rPr>
                        <a:t>AC1</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Credit with one active student ID, amount ≤ outstanding → allocated, posted, receipted within 15 min, no human step</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AC2</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Existing source + UTR → no ledger entry, no receipt; logged as duplicate</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AC3</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Claim or cash note without linked bank credit → paid / outstanding unchanged; no receipt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AC4</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Claim UTR + amount match an unallocated credit → linked; allocation proposed; Ops lead approval</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AC5</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Unlinked claim after 3 working days of imports → Not found; assigned to Ops</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AC6</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Medium / Low suggestion → cannot post without Finance approval</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AC7</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Split lines ≠ credit amount → proposal blocked, difference shown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AC8</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Debit referencing a posted credit → reversal on same student and component; credit note; receipt marked; Finance flag</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AC9</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Proposer attempts approval → rejected by server; logged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AC10</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Displayed or synced balance = sum of ledger entries; no UI or API sets it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AC11</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Create / approve / reverse / parameter change → audit record (actor, time, before / after, reason), not editable</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AC12</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Credit above outstanding → excess held as credit balance; Finance task</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AC13</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Credit for unregistered ID → re-matched and allocated when the student record is created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29184">
                <a:tc>
                  <a:txBody>
                    <a:bodyPr/>
                    <a:lstStyle/>
                    <a:p>
                      <a:pPr indent="0" marL="0">
                        <a:buNone/>
                      </a:pPr>
                      <a:r>
                        <a:rPr lang="en-US" sz="1150" b="1" dirty="0">
                          <a:solidFill>
                            <a:srgbClr val="000000"/>
                          </a:solidFill>
                        </a:rPr>
                        <a:t>AC14</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rgbClr val="000000"/>
                          </a:solidFill>
                        </a:rPr>
                        <a:t>Receipt re-downloaded → same number and document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Appendix B: test scenarios</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960120"/>
                <a:gridCol w="960120"/>
                <a:gridCol w="4114800"/>
                <a:gridCol w="5239512"/>
              </a:tblGrid>
              <a:tr h="374904">
                <a:tc>
                  <a:txBody>
                    <a:bodyPr/>
                    <a:lstStyle/>
                    <a:p>
                      <a:pPr indent="0" marL="0">
                        <a:buNone/>
                      </a:pPr>
                      <a:r>
                        <a:rPr lang="en-US" sz="1150" b="1" dirty="0">
                          <a:solidFill>
                            <a:schemeClr val="bg1"/>
                          </a:solidFill>
                        </a:rPr>
                        <a:t>ID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Type</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Scenario</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bg1"/>
                          </a:solidFill>
                        </a:rPr>
                        <a:t>Expected result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r>
              <a:tr h="374904">
                <a:tc>
                  <a:txBody>
                    <a:bodyPr/>
                    <a:lstStyle/>
                    <a:p>
                      <a:pPr indent="0" marL="0">
                        <a:buNone/>
                      </a:pPr>
                      <a:r>
                        <a:rPr lang="en-US" sz="1150" b="1" dirty="0">
                          <a:solidFill>
                            <a:schemeClr val="tx1"/>
                          </a:solidFill>
                        </a:rPr>
                        <a:t>T-SAMPLE</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Fixture</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Load P1–P9 and S101–S104 with test fee components</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Results match the nine-record table (PRD section 9)</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T1</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Normal</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Import P1</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S101 admission −₹10,000; receipt; notification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T2</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Normal</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Ops proposes P6 split; Finance approves</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Two allocations, two receipts; S101 overpayment check</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T3</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Normal</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Student submits claim with P9's UTR as S104</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Linked; High confidence; Ops lead approves; receipt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T4</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Import P4; re-import the full statement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No new entries; duplicates logged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T5</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P7 with no matching credit for 3 working days</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No balance change; Not found; assigned to Ops</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T6</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Counsellor attempts to mark P5 paid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Not possible; cash note only; Finance verifies against deposit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T7</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P8 after P3 receipt issued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Reversal; credit note; S103 outstanding +₹5,000</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T8</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Ops executive proposes P2 → S102 and approves it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Approval rejected; Finance required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T9</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Two approvers act on the same item at once</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One allocation; second user sees conflict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T10</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Reallocate a posted payment</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Reversal + new allocation; receipts replaced; both students notified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374904">
                <a:tc>
                  <a:txBody>
                    <a:bodyPr/>
                    <a:lstStyle/>
                    <a:p>
                      <a:pPr indent="0" marL="0">
                        <a:buNone/>
                      </a:pPr>
                      <a:r>
                        <a:rPr lang="en-US" sz="1150" b="1" dirty="0">
                          <a:solidFill>
                            <a:schemeClr val="tx1"/>
                          </a:solidFill>
                        </a:rPr>
                        <a:t>T11</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accent3"/>
                          </a:solidFill>
                        </a:rPr>
                        <a:t>Exception</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Feed down for 24 hours</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150" dirty="0">
                          <a:solidFill>
                            <a:schemeClr val="tx1"/>
                          </a:solidFill>
                        </a:rPr>
                        <a:t>Banner shown; claims not moved to Not found</a:t>
                      </a:r>
                      <a:endParaRPr lang="en-US" sz="1150" dirty="0"/>
                    </a:p>
                  </a:txBody>
                  <a:tcPr marL="73152" marR="73152" marT="27432" marB="27432"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Appendix C: edge cases</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541264" cy="914400"/>
        </p:xfrm>
        <a:graphic>
          <a:graphicData uri="http://schemas.openxmlformats.org/drawingml/2006/table">
            <a:tbl>
              <a:tblPr/>
              <a:tblGrid>
                <a:gridCol w="1828800"/>
                <a:gridCol w="3712464"/>
              </a:tblGrid>
              <a:tr h="822960">
                <a:tc>
                  <a:txBody>
                    <a:bodyPr/>
                    <a:lstStyle/>
                    <a:p>
                      <a:pPr indent="0" marL="0">
                        <a:buNone/>
                      </a:pPr>
                      <a:r>
                        <a:rPr lang="en-US" sz="1200" b="1" dirty="0">
                          <a:solidFill>
                            <a:schemeClr val="bg1"/>
                          </a:solidFill>
                        </a:rPr>
                        <a:t>Case</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Behaviour</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r>
              <a:tr h="822960">
                <a:tc>
                  <a:txBody>
                    <a:bodyPr/>
                    <a:lstStyle/>
                    <a:p>
                      <a:pPr indent="0" marL="0">
                        <a:buNone/>
                      </a:pPr>
                      <a:r>
                        <a:rPr lang="en-US" sz="1200" b="1" dirty="0">
                          <a:solidFill>
                            <a:srgbClr val="000000"/>
                          </a:solidFill>
                        </a:rPr>
                        <a:t>Overpayment</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Excess held as credit balance; Finance applies to next instalment or refunds (BR6)</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One transfer, 3+ students</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Split flow; valid ID per line; total must match (BR7)</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Payment before registration</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Suspense, "pending registration"; re-matched on record creation (BR9)</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Withdrawn / inactive student</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No auto-allocation; routed to Finance (BR4)</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Feed late or missing</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Banner; claim Not-found transitions paused</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190488" y="1234440"/>
          <a:ext cx="5541264" cy="914400"/>
        </p:xfrm>
        <a:graphic>
          <a:graphicData uri="http://schemas.openxmlformats.org/drawingml/2006/table">
            <a:tbl>
              <a:tblPr/>
              <a:tblGrid>
                <a:gridCol w="1828800"/>
                <a:gridCol w="3712464"/>
              </a:tblGrid>
              <a:tr h="822960">
                <a:tc>
                  <a:txBody>
                    <a:bodyPr/>
                    <a:lstStyle/>
                    <a:p>
                      <a:pPr indent="0" marL="0">
                        <a:buNone/>
                      </a:pPr>
                      <a:r>
                        <a:rPr lang="en-US" sz="1200" b="1" dirty="0">
                          <a:solidFill>
                            <a:schemeClr val="bg1"/>
                          </a:solidFill>
                        </a:rPr>
                        <a:t>Case</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Behaviour</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solidFill>
                      <a:schemeClr val="accent1"/>
                    </a:solidFill>
                  </a:tcPr>
                </a:tc>
              </a:tr>
              <a:tr h="822960">
                <a:tc>
                  <a:txBody>
                    <a:bodyPr/>
                    <a:lstStyle/>
                    <a:p>
                      <a:pPr indent="0" marL="0">
                        <a:buNone/>
                      </a:pPr>
                      <a:r>
                        <a:rPr lang="en-US" sz="1200" b="1" dirty="0">
                          <a:solidFill>
                            <a:srgbClr val="000000"/>
                          </a:solidFill>
                        </a:rPr>
                        <a:t>Student disputes a decision</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Mismatch ticket on the ledger line; 2-working-day SLA (FR-30)</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Payer types wrong valid ID</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Auto-allocated; student notified; corrected by reallocation (FR-25)</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Same amount and day, different UTR</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Flagged "possible duplicate"; not rejected (FR-03)</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Cash not deposited in 2 working days</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Escalated to Finance head; counsellor's new notes blocked (FR-19)</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r h="822960">
                <a:tc>
                  <a:txBody>
                    <a:bodyPr/>
                    <a:lstStyle/>
                    <a:p>
                      <a:pPr indent="0" marL="0">
                        <a:buNone/>
                      </a:pPr>
                      <a:r>
                        <a:rPr lang="en-US" sz="1200" b="1" dirty="0">
                          <a:solidFill>
                            <a:srgbClr val="000000"/>
                          </a:solidFill>
                        </a:rPr>
                        <a:t>Refund after receipt</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c>
                  <a:txBody>
                    <a:bodyPr/>
                    <a:lstStyle/>
                    <a:p>
                      <a:pPr indent="0" marL="0">
                        <a:buNone/>
                      </a:pPr>
                      <a:r>
                        <a:rPr lang="en-US" sz="1200" dirty="0">
                          <a:solidFill>
                            <a:srgbClr val="000000"/>
                          </a:solidFill>
                        </a:rPr>
                        <a:t>Posted on bank debit; credit note; receipt marked (FR-22)</a:t>
                      </a:r>
                      <a:endParaRPr lang="en-US" sz="1200" dirty="0"/>
                    </a:p>
                  </a:txBody>
                  <a:tcPr marL="73152" marR="73152" marT="36576" marB="36576" anchor="ctr">
                    <a:lnL w="6350" cap="flat" cmpd="sng" algn="ctr">
                      <a:solidFill>
                        <a:srgbClr val="D5DEE8"/>
                      </a:solidFill>
                      <a:prstDash val="solid"/>
                      <a:round/>
                      <a:headEnd type="none" w="med" len="med"/>
                      <a:tailEnd type="none" w="med" len="med"/>
                    </a:lnL>
                    <a:lnR w="6350" cap="flat" cmpd="sng" algn="ctr">
                      <a:solidFill>
                        <a:srgbClr val="D5DEE8"/>
                      </a:solidFill>
                      <a:prstDash val="solid"/>
                      <a:round/>
                      <a:headEnd type="none" w="med" len="med"/>
                      <a:tailEnd type="none" w="med" len="med"/>
                    </a:lnR>
                    <a:lnT w="6350" cap="flat" cmpd="sng" algn="ctr">
                      <a:solidFill>
                        <a:srgbClr val="D5DEE8"/>
                      </a:solidFill>
                      <a:prstDash val="solid"/>
                      <a:round/>
                      <a:headEnd type="none" w="med" len="med"/>
                      <a:tailEnd type="none" w="med" len="med"/>
                    </a:lnT>
                    <a:lnB w="6350" cap="flat" cmpd="sng" algn="ctr">
                      <a:solidFill>
                        <a:srgbClr val="D5DEE8"/>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868680"/>
          </a:xfrm>
          <a:prstGeom prst="rect">
            <a:avLst/>
          </a:prstGeom>
          <a:noFill/>
          <a:ln/>
        </p:spPr>
        <p:txBody>
          <a:bodyPr wrap="square" lIns="0" tIns="0" rIns="0" bIns="0" rtlCol="0" anchor="ctr"/>
          <a:lstStyle/>
          <a:p>
            <a:pPr algn="l" indent="0" marL="0">
              <a:buNone/>
            </a:pPr>
            <a:r>
              <a:rPr lang="en-US" sz="2400" b="1" dirty="0">
                <a:solidFill>
                  <a:schemeClr val="accent1"/>
                </a:solidFill>
              </a:rPr>
              <a:t>Appendix D: release checklist</a:t>
            </a:r>
            <a:endParaRPr lang="en-US" sz="2400" dirty="0"/>
          </a:p>
        </p:txBody>
      </p:sp>
      <p:sp>
        <p:nvSpPr>
          <p:cNvPr id="3" name="Shape 1"/>
          <p:cNvSpPr/>
          <p:nvPr/>
        </p:nvSpPr>
        <p:spPr>
          <a:xfrm>
            <a:off x="457200" y="1280160"/>
            <a:ext cx="5541264" cy="2286000"/>
          </a:xfrm>
          <a:prstGeom prst="roundRect">
            <a:avLst>
              <a:gd name="adj" fmla="val 2400"/>
            </a:avLst>
          </a:prstGeom>
          <a:solidFill>
            <a:schemeClr val="accent6"/>
          </a:solidFill>
          <a:ln w="9525">
            <a:solidFill>
              <a:schemeClr val="accent5"/>
            </a:solidFill>
            <a:prstDash val="solid"/>
          </a:ln>
        </p:spPr>
      </p:sp>
      <p:sp>
        <p:nvSpPr>
          <p:cNvPr id="4" name="Text 2"/>
          <p:cNvSpPr txBox="1"/>
          <p:nvPr/>
        </p:nvSpPr>
        <p:spPr>
          <a:xfrm>
            <a:off x="621792" y="1408176"/>
            <a:ext cx="5212080" cy="292608"/>
          </a:xfrm>
          <a:prstGeom prst="rect">
            <a:avLst/>
          </a:prstGeom>
          <a:noFill/>
          <a:ln/>
        </p:spPr>
        <p:txBody>
          <a:bodyPr wrap="square" lIns="0" tIns="0" rIns="0" bIns="0" rtlCol="0" anchor="t"/>
          <a:lstStyle/>
          <a:p>
            <a:pPr indent="0" marL="0">
              <a:buNone/>
            </a:pPr>
            <a:r>
              <a:rPr lang="en-US" sz="1400" b="1" dirty="0">
                <a:solidFill>
                  <a:schemeClr val="accent1"/>
                </a:solidFill>
              </a:rPr>
              <a:t>Functional</a:t>
            </a:r>
            <a:endParaRPr lang="en-US" sz="1400" dirty="0"/>
          </a:p>
        </p:txBody>
      </p:sp>
      <p:sp>
        <p:nvSpPr>
          <p:cNvPr id="5" name="Text 3"/>
          <p:cNvSpPr txBox="1"/>
          <p:nvPr/>
        </p:nvSpPr>
        <p:spPr>
          <a:xfrm>
            <a:off x="621792" y="1755648"/>
            <a:ext cx="5212080" cy="1719072"/>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All High-priority requirements built</a:t>
            </a:r>
            <a:endParaRPr lang="en-US" sz="1300" dirty="0"/>
          </a:p>
          <a:p>
            <a:pPr marL="177800" indent="-177800">
              <a:spcAft>
                <a:spcPts val="600"/>
              </a:spcAft>
              <a:buSzPct val="100000"/>
              <a:buChar char="•"/>
            </a:pPr>
            <a:r>
              <a:rPr lang="en-US" sz="1300" dirty="0">
                <a:solidFill>
                  <a:schemeClr val="tx1"/>
                </a:solidFill>
              </a:rPr>
              <a:t>AC1–AC14, T-SAMPLE and T1–T11 pass in staging</a:t>
            </a:r>
            <a:endParaRPr lang="en-US" sz="1300" dirty="0"/>
          </a:p>
          <a:p>
            <a:pPr marL="177800" indent="-177800">
              <a:spcAft>
                <a:spcPts val="600"/>
              </a:spcAft>
              <a:buSzPct val="100000"/>
              <a:buChar char="•"/>
            </a:pPr>
            <a:r>
              <a:rPr lang="en-US" sz="1300" dirty="0">
                <a:solidFill>
                  <a:schemeClr val="tx1"/>
                </a:solidFill>
              </a:rPr>
              <a:t>Student view hides payer details</a:t>
            </a:r>
            <a:endParaRPr lang="en-US" sz="1300" dirty="0"/>
          </a:p>
        </p:txBody>
      </p:sp>
      <p:sp>
        <p:nvSpPr>
          <p:cNvPr id="6" name="Shape 4"/>
          <p:cNvSpPr/>
          <p:nvPr/>
        </p:nvSpPr>
        <p:spPr>
          <a:xfrm>
            <a:off x="6190488" y="1280160"/>
            <a:ext cx="5541264" cy="2286000"/>
          </a:xfrm>
          <a:prstGeom prst="roundRect">
            <a:avLst>
              <a:gd name="adj" fmla="val 2400"/>
            </a:avLst>
          </a:prstGeom>
          <a:solidFill>
            <a:schemeClr val="accent6"/>
          </a:solidFill>
          <a:ln w="9525">
            <a:solidFill>
              <a:schemeClr val="accent5"/>
            </a:solidFill>
            <a:prstDash val="solid"/>
          </a:ln>
        </p:spPr>
      </p:sp>
      <p:sp>
        <p:nvSpPr>
          <p:cNvPr id="7" name="Text 5"/>
          <p:cNvSpPr txBox="1"/>
          <p:nvPr/>
        </p:nvSpPr>
        <p:spPr>
          <a:xfrm>
            <a:off x="6355080" y="1408176"/>
            <a:ext cx="5212080" cy="292608"/>
          </a:xfrm>
          <a:prstGeom prst="rect">
            <a:avLst/>
          </a:prstGeom>
          <a:noFill/>
          <a:ln/>
        </p:spPr>
        <p:txBody>
          <a:bodyPr wrap="square" lIns="0" tIns="0" rIns="0" bIns="0" rtlCol="0" anchor="t"/>
          <a:lstStyle/>
          <a:p>
            <a:pPr indent="0" marL="0">
              <a:buNone/>
            </a:pPr>
            <a:r>
              <a:rPr lang="en-US" sz="1400" b="1" dirty="0">
                <a:solidFill>
                  <a:schemeClr val="accent1"/>
                </a:solidFill>
              </a:rPr>
              <a:t>Finance</a:t>
            </a:r>
            <a:endParaRPr lang="en-US" sz="1400" dirty="0"/>
          </a:p>
        </p:txBody>
      </p:sp>
      <p:sp>
        <p:nvSpPr>
          <p:cNvPr id="8" name="Text 6"/>
          <p:cNvSpPr txBox="1"/>
          <p:nvPr/>
        </p:nvSpPr>
        <p:spPr>
          <a:xfrm>
            <a:off x="6355080" y="1755648"/>
            <a:ext cx="5212080" cy="1719072"/>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Rules and parameters signed off</a:t>
            </a:r>
            <a:endParaRPr lang="en-US" sz="1300" dirty="0"/>
          </a:p>
          <a:p>
            <a:pPr marL="177800" indent="-177800">
              <a:spcAft>
                <a:spcPts val="600"/>
              </a:spcAft>
              <a:buSzPct val="100000"/>
              <a:buChar char="•"/>
            </a:pPr>
            <a:r>
              <a:rPr lang="en-US" sz="1300" dirty="0">
                <a:solidFill>
                  <a:schemeClr val="tx1"/>
                </a:solidFill>
              </a:rPr>
              <a:t>Opening balances tied out</a:t>
            </a:r>
            <a:endParaRPr lang="en-US" sz="1300" dirty="0"/>
          </a:p>
          <a:p>
            <a:pPr marL="177800" indent="-177800">
              <a:spcAft>
                <a:spcPts val="600"/>
              </a:spcAft>
              <a:buSzPct val="100000"/>
              <a:buChar char="•"/>
            </a:pPr>
            <a:r>
              <a:rPr lang="en-US" sz="1300" dirty="0">
                <a:solidFill>
                  <a:schemeClr val="tx1"/>
                </a:solidFill>
              </a:rPr>
              <a:t>2-week parallel run: no unexplained difference</a:t>
            </a:r>
            <a:endParaRPr lang="en-US" sz="1300" dirty="0"/>
          </a:p>
        </p:txBody>
      </p:sp>
      <p:sp>
        <p:nvSpPr>
          <p:cNvPr id="9" name="Shape 7"/>
          <p:cNvSpPr/>
          <p:nvPr/>
        </p:nvSpPr>
        <p:spPr>
          <a:xfrm>
            <a:off x="457200" y="3749040"/>
            <a:ext cx="5541264" cy="2286000"/>
          </a:xfrm>
          <a:prstGeom prst="roundRect">
            <a:avLst>
              <a:gd name="adj" fmla="val 2400"/>
            </a:avLst>
          </a:prstGeom>
          <a:solidFill>
            <a:schemeClr val="accent6"/>
          </a:solidFill>
          <a:ln w="9525">
            <a:solidFill>
              <a:schemeClr val="accent5"/>
            </a:solidFill>
            <a:prstDash val="solid"/>
          </a:ln>
        </p:spPr>
      </p:sp>
      <p:sp>
        <p:nvSpPr>
          <p:cNvPr id="10" name="Text 8"/>
          <p:cNvSpPr txBox="1"/>
          <p:nvPr/>
        </p:nvSpPr>
        <p:spPr>
          <a:xfrm>
            <a:off x="621792" y="3877056"/>
            <a:ext cx="5212080" cy="292608"/>
          </a:xfrm>
          <a:prstGeom prst="rect">
            <a:avLst/>
          </a:prstGeom>
          <a:noFill/>
          <a:ln/>
        </p:spPr>
        <p:txBody>
          <a:bodyPr wrap="square" lIns="0" tIns="0" rIns="0" bIns="0" rtlCol="0" anchor="t"/>
          <a:lstStyle/>
          <a:p>
            <a:pPr indent="0" marL="0">
              <a:buNone/>
            </a:pPr>
            <a:r>
              <a:rPr lang="en-US" sz="1400" b="1" dirty="0">
                <a:solidFill>
                  <a:schemeClr val="accent1"/>
                </a:solidFill>
              </a:rPr>
              <a:t>Controls</a:t>
            </a:r>
            <a:endParaRPr lang="en-US" sz="1400" dirty="0"/>
          </a:p>
        </p:txBody>
      </p:sp>
      <p:sp>
        <p:nvSpPr>
          <p:cNvPr id="11" name="Text 9"/>
          <p:cNvSpPr txBox="1"/>
          <p:nvPr/>
        </p:nvSpPr>
        <p:spPr>
          <a:xfrm>
            <a:off x="621792" y="4224528"/>
            <a:ext cx="5212080" cy="1719072"/>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Permission tests pass for every role</a:t>
            </a:r>
            <a:endParaRPr lang="en-US" sz="1300" dirty="0"/>
          </a:p>
          <a:p>
            <a:pPr marL="177800" indent="-177800">
              <a:spcAft>
                <a:spcPts val="600"/>
              </a:spcAft>
              <a:buSzPct val="100000"/>
              <a:buChar char="•"/>
            </a:pPr>
            <a:r>
              <a:rPr lang="en-US" sz="1300" dirty="0">
                <a:solidFill>
                  <a:schemeClr val="tx1"/>
                </a:solidFill>
              </a:rPr>
              <a:t>Ledger and audit records cannot be edited</a:t>
            </a:r>
            <a:endParaRPr lang="en-US" sz="1300" dirty="0"/>
          </a:p>
          <a:p>
            <a:pPr marL="177800" indent="-177800">
              <a:spcAft>
                <a:spcPts val="600"/>
              </a:spcAft>
              <a:buSzPct val="100000"/>
              <a:buChar char="•"/>
            </a:pPr>
            <a:r>
              <a:rPr lang="en-US" sz="1300" dirty="0">
                <a:solidFill>
                  <a:schemeClr val="tx1"/>
                </a:solidFill>
              </a:rPr>
              <a:t>Feed and sync failure alerts active</a:t>
            </a:r>
            <a:endParaRPr lang="en-US" sz="1300" dirty="0"/>
          </a:p>
        </p:txBody>
      </p:sp>
      <p:sp>
        <p:nvSpPr>
          <p:cNvPr id="12" name="Shape 10"/>
          <p:cNvSpPr/>
          <p:nvPr/>
        </p:nvSpPr>
        <p:spPr>
          <a:xfrm>
            <a:off x="6190488" y="3749040"/>
            <a:ext cx="5541264" cy="2286000"/>
          </a:xfrm>
          <a:prstGeom prst="roundRect">
            <a:avLst>
              <a:gd name="adj" fmla="val 2400"/>
            </a:avLst>
          </a:prstGeom>
          <a:solidFill>
            <a:schemeClr val="accent6"/>
          </a:solidFill>
          <a:ln w="9525">
            <a:solidFill>
              <a:schemeClr val="accent5"/>
            </a:solidFill>
            <a:prstDash val="solid"/>
          </a:ln>
        </p:spPr>
      </p:sp>
      <p:sp>
        <p:nvSpPr>
          <p:cNvPr id="13" name="Text 11"/>
          <p:cNvSpPr txBox="1"/>
          <p:nvPr/>
        </p:nvSpPr>
        <p:spPr>
          <a:xfrm>
            <a:off x="6355080" y="3877056"/>
            <a:ext cx="5212080" cy="292608"/>
          </a:xfrm>
          <a:prstGeom prst="rect">
            <a:avLst/>
          </a:prstGeom>
          <a:noFill/>
          <a:ln/>
        </p:spPr>
        <p:txBody>
          <a:bodyPr wrap="square" lIns="0" tIns="0" rIns="0" bIns="0" rtlCol="0" anchor="t"/>
          <a:lstStyle/>
          <a:p>
            <a:pPr indent="0" marL="0">
              <a:buNone/>
            </a:pPr>
            <a:r>
              <a:rPr lang="en-US" sz="1400" b="1" dirty="0">
                <a:solidFill>
                  <a:schemeClr val="accent1"/>
                </a:solidFill>
              </a:rPr>
              <a:t>Operations</a:t>
            </a:r>
            <a:endParaRPr lang="en-US" sz="1400" dirty="0"/>
          </a:p>
        </p:txBody>
      </p:sp>
      <p:sp>
        <p:nvSpPr>
          <p:cNvPr id="14" name="Text 12"/>
          <p:cNvSpPr txBox="1"/>
          <p:nvPr/>
        </p:nvSpPr>
        <p:spPr>
          <a:xfrm>
            <a:off x="6355080" y="4224528"/>
            <a:ext cx="5212080" cy="1719072"/>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Ops and Finance trained</a:t>
            </a:r>
            <a:endParaRPr lang="en-US" sz="1300" dirty="0"/>
          </a:p>
          <a:p>
            <a:pPr marL="177800" indent="-177800">
              <a:spcAft>
                <a:spcPts val="600"/>
              </a:spcAft>
              <a:buSzPct val="100000"/>
              <a:buChar char="•"/>
            </a:pPr>
            <a:r>
              <a:rPr lang="en-US" sz="1300" dirty="0">
                <a:solidFill>
                  <a:schemeClr val="tx1"/>
                </a:solidFill>
              </a:rPr>
              <a:t>Notification templates approved</a:t>
            </a:r>
            <a:endParaRPr lang="en-US" sz="1300" dirty="0"/>
          </a:p>
          <a:p>
            <a:pPr marL="177800" indent="-177800">
              <a:spcAft>
                <a:spcPts val="600"/>
              </a:spcAft>
              <a:buSzPct val="100000"/>
              <a:buChar char="•"/>
            </a:pPr>
            <a:r>
              <a:rPr lang="en-US" sz="1300" dirty="0">
                <a:solidFill>
                  <a:schemeClr val="tx1"/>
                </a:solidFill>
              </a:rPr>
              <a:t>Runbook, support owner, rollback plan</a:t>
            </a:r>
            <a:endParaRPr lang="en-US" sz="1300" dirty="0"/>
          </a:p>
        </p:txBody>
      </p:sp>
    </p:spTree>
  </p:cSld>
  <p:clrMapOvr>
    <a:masterClrMapping/>
  </p:clrMapOvr>
</p:sld>
</file>

<file path=ppt/theme/theme1.xml><?xml version="1.0" encoding="utf-8"?>
<a:theme xmlns:a="http://schemas.openxmlformats.org/drawingml/2006/main" name="Fee Reconciliation">
  <a:themeElements>
    <a:clrScheme name="Fee Reconciliation">
      <a:dk1>
        <a:srgbClr val="1A1A1A"/>
      </a:dk1>
      <a:lt1>
        <a:srgbClr val="FFFFFF"/>
      </a:lt1>
      <a:dk2>
        <a:srgbClr val="1F4E79"/>
      </a:dk2>
      <a:lt2>
        <a:srgbClr val="EEF4FA"/>
      </a:lt2>
      <a:accent1>
        <a:srgbClr val="1F4E79"/>
      </a:accent1>
      <a:accent2>
        <a:srgbClr val="2E75B6"/>
      </a:accent2>
      <a:accent3>
        <a:srgbClr val="C0392B"/>
      </a:accent3>
      <a:accent4>
        <a:srgbClr val="5F6B7A"/>
      </a:accent4>
      <a:accent5>
        <a:srgbClr val="D5DEE8"/>
      </a:accent5>
      <a:accent6>
        <a:srgbClr val="F4F6F8"/>
      </a:accent6>
      <a:hlink>
        <a:srgbClr val="2E75B6"/>
      </a:hlink>
      <a:folHlink>
        <a:srgbClr val="1F4E79"/>
      </a:folHlink>
    </a:clrScheme>
    <a:fontScheme name="Fee Reconcilia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Kushal Chakrabarty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Verified Fee Reconciliation: PM review</dc:title>
  <dc:subject>Product Manager assignment</dc:subject>
  <dc:creator>Kushal Chakrabarty</dc:creator>
  <cp:lastModifiedBy>Kushal Chakrabarty</cp:lastModifiedBy>
  <cp:revision>1</cp:revision>
  <dcterms:created xsi:type="dcterms:W3CDTF">2026-10-27T08:05:59Z</dcterms:created>
  <dcterms:modified xsi:type="dcterms:W3CDTF">2026-10-27T08:05:59Z</dcterms:modified>
</cp:coreProperties>
</file>